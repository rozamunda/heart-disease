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3" r:id="rId7"/>
    <p:sldId id="260" r:id="rId8"/>
    <p:sldId id="262" r:id="rId9"/>
    <p:sldId id="264" r:id="rId10"/>
    <p:sldId id="267" r:id="rId11"/>
    <p:sldId id="270" r:id="rId12"/>
    <p:sldId id="269" r:id="rId13"/>
    <p:sldId id="265" r:id="rId14"/>
    <p:sldId id="272" r:id="rId15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F81F0F-E3F4-428E-974A-474FA523AFEE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5C81D-9DDA-44F2-A7C2-4258B8B7DE9D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235486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/>
              <a:t>Title + </a:t>
            </a:r>
            <a:r>
              <a:rPr lang="sl-SI" dirty="0" err="1"/>
              <a:t>objective</a:t>
            </a:r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14015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dirty="0" err="1"/>
              <a:t>Dataset</a:t>
            </a:r>
            <a:r>
              <a:rPr lang="sl-SI" dirty="0"/>
              <a:t> + </a:t>
            </a:r>
            <a:r>
              <a:rPr lang="sl-SI" dirty="0" err="1"/>
              <a:t>variables</a:t>
            </a:r>
            <a:r>
              <a:rPr lang="sl-SI" dirty="0"/>
              <a:t> + </a:t>
            </a:r>
            <a:r>
              <a:rPr lang="sl-SI" dirty="0" err="1"/>
              <a:t>sample</a:t>
            </a:r>
            <a:r>
              <a:rPr lang="sl-SI" dirty="0"/>
              <a:t> </a:t>
            </a:r>
            <a:r>
              <a:rPr lang="sl-SI" dirty="0" err="1"/>
              <a:t>size</a:t>
            </a:r>
            <a:r>
              <a:rPr lang="sl-SI" dirty="0"/>
              <a:t> (303)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014164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Cholesterol finding</a:t>
            </a:r>
            <a:r>
              <a:rPr lang="en-US" dirty="0"/>
              <a:t> (mean + t-test p + boxplot + 240 line)</a:t>
            </a:r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3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37518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FBS finding</a:t>
            </a:r>
            <a:r>
              <a:rPr lang="en-US" dirty="0"/>
              <a:t> (14.85% vs 8% + binomial p + bar chart)</a:t>
            </a:r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4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528831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Chest pain &amp; </a:t>
            </a:r>
            <a:r>
              <a:rPr lang="en-US" b="1" dirty="0" err="1"/>
              <a:t>thalach</a:t>
            </a:r>
            <a:r>
              <a:rPr lang="en-US" dirty="0"/>
              <a:t> (boxplot by cp + Tukey takeaway: asymptomatic lowest)</a:t>
            </a:r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5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85384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b="1" dirty="0" err="1"/>
              <a:t>exang</a:t>
            </a:r>
            <a:r>
              <a:rPr lang="sl-SI" b="1" dirty="0"/>
              <a:t> &amp; </a:t>
            </a:r>
            <a:r>
              <a:rPr lang="sl-SI" b="1" dirty="0" err="1"/>
              <a:t>diagnosis</a:t>
            </a:r>
            <a:r>
              <a:rPr lang="sl-SI" dirty="0"/>
              <a:t> (</a:t>
            </a:r>
            <a:r>
              <a:rPr lang="sl-SI" dirty="0" err="1"/>
              <a:t>stacked</a:t>
            </a:r>
            <a:r>
              <a:rPr lang="sl-SI" dirty="0"/>
              <a:t> bar + </a:t>
            </a:r>
            <a:r>
              <a:rPr lang="sl-SI" dirty="0" err="1"/>
              <a:t>chi-square</a:t>
            </a:r>
            <a:r>
              <a:rPr lang="sl-SI" dirty="0"/>
              <a:t> 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6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678042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Thalach</a:t>
            </a:r>
            <a:r>
              <a:rPr lang="en-US" b="1" dirty="0"/>
              <a:t> finding</a:t>
            </a:r>
            <a:r>
              <a:rPr lang="en-US" dirty="0"/>
              <a:t> (~−19 bpm + test p + boxplot)</a:t>
            </a:r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7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139733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l-SI" b="1" dirty="0" err="1"/>
              <a:t>Chest</a:t>
            </a:r>
            <a:r>
              <a:rPr lang="sl-SI" b="1" dirty="0"/>
              <a:t> </a:t>
            </a:r>
            <a:r>
              <a:rPr lang="sl-SI" b="1" dirty="0" err="1"/>
              <a:t>pain</a:t>
            </a:r>
            <a:r>
              <a:rPr lang="sl-SI" b="1" dirty="0"/>
              <a:t> &amp; </a:t>
            </a:r>
            <a:r>
              <a:rPr lang="sl-SI" b="1" dirty="0" err="1"/>
              <a:t>diagnosis</a:t>
            </a:r>
            <a:r>
              <a:rPr lang="sl-SI" dirty="0"/>
              <a:t> (</a:t>
            </a:r>
            <a:r>
              <a:rPr lang="sl-SI" dirty="0" err="1"/>
              <a:t>stacked</a:t>
            </a:r>
            <a:r>
              <a:rPr lang="sl-SI" dirty="0"/>
              <a:t> bar + </a:t>
            </a:r>
            <a:r>
              <a:rPr lang="sl-SI" dirty="0" err="1"/>
              <a:t>chi-square</a:t>
            </a:r>
            <a:r>
              <a:rPr lang="sl-SI" dirty="0"/>
              <a:t> p=1.25e−17)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8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143710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age &amp; diagnosis</a:t>
            </a:r>
            <a:r>
              <a:rPr lang="en-US" dirty="0"/>
              <a:t> (boxplot + t-test p + mean diff)</a:t>
            </a:r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9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592405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52BB6-6B52-2D96-6373-4691A6D94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E2C297-61C7-6542-86BD-2ABA5873D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C860D4-C751-2B34-E62B-160432877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43189-31FF-1212-C20C-055998FD8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10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896116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3DB0B-0C80-E839-9F33-497EF3C9F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01A10E-BB2A-A813-A1B4-80C9BAF17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477E4-B1EC-D958-642F-A6A102BA4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age &amp; diagnosis</a:t>
            </a:r>
            <a:r>
              <a:rPr lang="en-US" dirty="0"/>
              <a:t> (boxplot + t-test p + mean diff)</a:t>
            </a:r>
            <a:endParaRPr lang="sl-S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75F91-F0AB-598B-C412-DB8D9D055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11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40763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1A5CC-FED1-5671-6A20-9C297E09C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F8AC0C-EBB2-ACF6-B4CF-BDC69442E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14F532-F17F-ECCC-B7E0-4D72C4767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8B793-6E8E-F95B-BEB3-BDEC27233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12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599254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takeaways + limitations + “what next”</a:t>
            </a:r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13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289477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Key takeaways + limitations + “what next”</a:t>
            </a:r>
            <a:endParaRPr lang="sl-SI" dirty="0"/>
          </a:p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5C81D-9DDA-44F2-A7C2-4258B8B7DE9D}" type="slidenum">
              <a:rPr lang="sl-SI" smtClean="0"/>
              <a:t>14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072951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81EF4-8FBB-0B7D-2F95-11638C57A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43AFA-4FAD-D184-2CCB-8C02D0F6B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48D25-445C-D80A-4D0F-7D9906FD8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13498-8C97-EAE2-7EFD-2B01E15A1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37007-D7E8-F35D-BF8E-3B654A13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890346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2FBE5-F0CC-4A2F-DBBA-221E1DE6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4CBD5-3126-38D7-8204-F04585D02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B0A0B-7AE2-AE87-9610-D8E4CBA59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863E5-59F4-5458-A156-C6A4017FC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78A62-952B-92FD-6C65-A2AF01B5E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31976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088E5-7744-FD7E-0641-6BA646F84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50B99-EAC0-94D4-8771-61E5D15EF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7ABB1-E28F-3D4A-6704-8182B12F0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E4E7A-556A-CE69-B168-ED61DB960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EE4AC-9C08-E0F7-72CA-E26AAD38B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105804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2E68F-B963-8C8B-6586-85E82B390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9EDFD-9E3E-41CB-DDAC-338D06167D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9D582-D2B6-4E38-DA52-25931E76A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53F62-C077-50CF-D464-4C9B0F5A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FF8A1-2BB8-7800-B427-9738807E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A5BB5-3D2D-3263-661F-D2003F515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567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243A0-8A97-5264-2F92-E639603AD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396D2-0779-8985-324F-89F3FAB9D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2FE80-A5B1-B89F-9496-DC6E927F0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04E9D2-64BB-5322-E53D-2B9A0CA8D7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F1C010-D378-0BEE-996C-1E8FAD0469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B1FA40-1239-CDF7-EF43-2260A2BA5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E74E58-4543-35E6-AA7D-052A07E4C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ED0D93-A59B-C570-06F8-30DD83112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709756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7484F-2324-04F8-2B36-F93B4CDED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D2A0C7-E76C-C44A-EF34-A916778BD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F8F526-2A69-5882-8364-C90B11953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CC23B-ED9E-6C6E-6935-24B29007F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23841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5BB913-8857-D88D-BFB3-D65552615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99283F-FAC5-7E99-80CD-D283E27D3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8FF1F-4E37-3486-752D-84DA2CA8F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193208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8ACD-38D2-8EB7-08BF-09EC12EB0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0F185-9E49-1204-7E00-529F466C5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CDA6E5-47CE-115E-221F-FBFE39E40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2295A-2359-9F27-D0A4-7D917C23A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7C75D-2841-FDFE-060F-753CE13D9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B39B5-D38D-F26D-437E-3FEF11471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340939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AC337-F49F-4EB0-8C8A-BD30A9A64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0F1868-4FCF-0CBB-BC6B-02012F2D08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9D0D7A-2778-0EA6-D46D-898892379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18D23-7512-9F1D-9D5F-0AB60D51E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9D13-865F-FD48-EDDA-FF2BACF4B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11C00-7130-0CB5-30CA-36593FFD9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66516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A1D2C-C14A-795E-817C-9785BB039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5B84E-ACC8-58A4-16DB-075FC4969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3A8D7-0DF4-D063-021D-1F479B286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D11A-9707-3908-A458-C422157CE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1EB35-26D3-6695-199A-2A54A2F5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428845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009C7B-A535-6AC2-6B9D-66769C6C21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DD8B3-D2A7-8309-42B3-FD9421389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A391A-847B-C1CB-BE36-731DFBECB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7B698-6AD7-4A43-225F-B206006D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D061D-98F0-449C-7460-686E97FE5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5887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00DE39-CC9E-DB4D-3BCA-EF47355EE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A49AC-66F2-49E8-1266-7E6456884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0B54F-18D1-6781-73C4-D5F35D2DAD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2B175-3496-45DF-98E2-9F4FA34D8AAF}" type="datetimeFigureOut">
              <a:rPr lang="sl-SI" smtClean="0"/>
              <a:t>11. 01. 2026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D6A47-6635-5F3C-D192-FEB21BE015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D4283-1268-248D-7F80-03FF6576FC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3C1FF8-74AE-478D-92A7-F0EBB1C9EE41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94027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9DF0-FFBC-3111-F3C2-FF18229D3A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l-SI" b="1" dirty="0">
                <a:latin typeface="Alegreya Sans SC Light" panose="00000400000000000000" pitchFamily="2" charset="0"/>
              </a:rPr>
              <a:t>Project </a:t>
            </a:r>
            <a:r>
              <a:rPr lang="sl-SI" b="1" dirty="0" err="1">
                <a:latin typeface="Alegreya Sans SC Light" panose="00000400000000000000" pitchFamily="2" charset="0"/>
              </a:rPr>
              <a:t>Challenge</a:t>
            </a:r>
            <a:r>
              <a:rPr lang="sl-SI" b="1" dirty="0">
                <a:latin typeface="Alegreya Sans SC Light" panose="00000400000000000000" pitchFamily="2" charset="0"/>
              </a:rPr>
              <a:t>:</a:t>
            </a:r>
            <a:br>
              <a:rPr lang="sl-SI" b="1" dirty="0">
                <a:latin typeface="Alegreya Sans SC Light" panose="00000400000000000000" pitchFamily="2" charset="0"/>
              </a:rPr>
            </a:br>
            <a:r>
              <a:rPr lang="sl-SI" b="1" dirty="0" err="1">
                <a:latin typeface="Alegreya Sans SC Light" panose="00000400000000000000" pitchFamily="2" charset="0"/>
              </a:rPr>
              <a:t>Heart</a:t>
            </a:r>
            <a:r>
              <a:rPr lang="sl-SI" b="1" dirty="0">
                <a:latin typeface="Alegreya Sans SC Light" panose="00000400000000000000" pitchFamily="2" charset="0"/>
              </a:rPr>
              <a:t> </a:t>
            </a:r>
            <a:r>
              <a:rPr lang="sl-SI" b="1" dirty="0" err="1">
                <a:latin typeface="Alegreya Sans SC Light" panose="00000400000000000000" pitchFamily="2" charset="0"/>
              </a:rPr>
              <a:t>Disease</a:t>
            </a:r>
            <a:r>
              <a:rPr lang="sl-SI" b="1" dirty="0">
                <a:latin typeface="Alegreya Sans SC Light" panose="00000400000000000000" pitchFamily="2" charset="0"/>
              </a:rPr>
              <a:t> </a:t>
            </a:r>
            <a:r>
              <a:rPr lang="sl-SI" b="1" dirty="0" err="1">
                <a:latin typeface="Alegreya Sans SC Light" panose="00000400000000000000" pitchFamily="2" charset="0"/>
              </a:rPr>
              <a:t>Analysis</a:t>
            </a:r>
            <a:endParaRPr lang="sl-SI" dirty="0">
              <a:latin typeface="Alegreya Sans SC Light" panose="000004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6E991-12DF-71D0-284F-9B8692CA0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95470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Alegreya Sans" panose="00000500000000000000" pitchFamily="2" charset="0"/>
              </a:rPr>
              <a:t>Applied Data Science with Python for Beginners Bootcamp Contest #1</a:t>
            </a:r>
            <a:endParaRPr lang="en-US" b="0" dirty="0">
              <a:effectLst/>
              <a:latin typeface="Alegreya Sans" panose="00000500000000000000" pitchFamily="2" charset="0"/>
            </a:endParaRPr>
          </a:p>
          <a:p>
            <a:pPr algn="l"/>
            <a:endParaRPr lang="sl-SI" dirty="0"/>
          </a:p>
          <a:p>
            <a:pPr algn="l"/>
            <a:br>
              <a:rPr lang="en-US" dirty="0"/>
            </a:br>
            <a:r>
              <a:rPr lang="sl-SI" sz="2200" dirty="0">
                <a:latin typeface="Alegreya Sans SC" panose="00000500000000000000" pitchFamily="2" charset="0"/>
              </a:rPr>
              <a:t>Tina  Munda</a:t>
            </a:r>
          </a:p>
          <a:p>
            <a:r>
              <a:rPr lang="sl-SI" sz="2200" dirty="0" err="1">
                <a:latin typeface="Alegreya Sans SC" panose="00000500000000000000" pitchFamily="2" charset="0"/>
              </a:rPr>
              <a:t>January</a:t>
            </a:r>
            <a:r>
              <a:rPr lang="sl-SI" sz="2200" dirty="0">
                <a:latin typeface="Alegreya Sans SC" panose="00000500000000000000" pitchFamily="2" charset="0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2885728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3FFB8-ABDA-FED8-C6DD-59AF9B693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Introduction</a:t>
            </a:r>
            <a:endParaRPr lang="sl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7F915-EFF8-1E02-D871-6D747DC25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l-SI" sz="2100" dirty="0" err="1">
                <a:latin typeface="Alegreya Sans" panose="00000500000000000000" pitchFamily="2" charset="0"/>
              </a:rPr>
              <a:t>Objective</a:t>
            </a:r>
            <a:r>
              <a:rPr lang="sl-SI" sz="2100" dirty="0">
                <a:latin typeface="Alegreya Sans" panose="00000500000000000000" pitchFamily="2" charset="0"/>
              </a:rPr>
              <a:t>: </a:t>
            </a:r>
            <a:r>
              <a:rPr lang="en-US" sz="2100" dirty="0">
                <a:latin typeface="Alegreya Sans" panose="00000500000000000000" pitchFamily="2" charset="0"/>
              </a:rPr>
              <a:t>Which factors are associated with heart disease in a clinical sample (N=303)?</a:t>
            </a:r>
            <a:endParaRPr lang="sl-SI" sz="2100" dirty="0">
              <a:latin typeface="Alegreya Sans" panose="00000500000000000000" pitchFamily="2" charset="0"/>
            </a:endParaRPr>
          </a:p>
          <a:p>
            <a:r>
              <a:rPr lang="sl-SI" sz="2100" dirty="0" err="1">
                <a:latin typeface="Alegreya Sans" panose="00000500000000000000" pitchFamily="2" charset="0"/>
              </a:rPr>
              <a:t>Dataset</a:t>
            </a:r>
            <a:r>
              <a:rPr lang="sl-SI" sz="2100" dirty="0">
                <a:latin typeface="Alegreya Sans" panose="00000500000000000000" pitchFamily="2" charset="0"/>
              </a:rPr>
              <a:t>: Cleveland </a:t>
            </a:r>
            <a:r>
              <a:rPr lang="sl-SI" sz="2100" dirty="0" err="1">
                <a:latin typeface="Alegreya Sans" panose="00000500000000000000" pitchFamily="2" charset="0"/>
              </a:rPr>
              <a:t>Clinic</a:t>
            </a:r>
            <a:r>
              <a:rPr lang="sl-SI" sz="2100" dirty="0">
                <a:latin typeface="Alegreya Sans" panose="00000500000000000000" pitchFamily="2" charset="0"/>
              </a:rPr>
              <a:t> </a:t>
            </a:r>
            <a:r>
              <a:rPr lang="sl-SI" sz="2100" dirty="0" err="1">
                <a:latin typeface="Alegreya Sans" panose="00000500000000000000" pitchFamily="2" charset="0"/>
              </a:rPr>
              <a:t>evaluation</a:t>
            </a:r>
            <a:r>
              <a:rPr lang="sl-SI" sz="2100" dirty="0">
                <a:latin typeface="Alegreya Sans" panose="00000500000000000000" pitchFamily="2" charset="0"/>
              </a:rPr>
              <a:t> </a:t>
            </a:r>
            <a:r>
              <a:rPr lang="sl-SI" sz="2100" dirty="0" err="1">
                <a:latin typeface="Alegreya Sans" panose="00000500000000000000" pitchFamily="2" charset="0"/>
              </a:rPr>
              <a:t>sample</a:t>
            </a:r>
            <a:r>
              <a:rPr lang="sl-SI" sz="2100" dirty="0">
                <a:latin typeface="Alegreya Sans" panose="00000500000000000000" pitchFamily="2" charset="0"/>
              </a:rPr>
              <a:t> (not general </a:t>
            </a:r>
            <a:r>
              <a:rPr lang="sl-SI" sz="2100" dirty="0" err="1">
                <a:latin typeface="Alegreya Sans" panose="00000500000000000000" pitchFamily="2" charset="0"/>
              </a:rPr>
              <a:t>population</a:t>
            </a:r>
            <a:r>
              <a:rPr lang="sl-SI" sz="2100" dirty="0">
                <a:latin typeface="Alegreya Sans" panose="00000500000000000000" pitchFamily="2" charset="0"/>
              </a:rPr>
              <a:t>!)</a:t>
            </a:r>
          </a:p>
          <a:p>
            <a:r>
              <a:rPr lang="sl-SI" sz="2100" dirty="0" err="1">
                <a:latin typeface="Alegreya Sans" panose="00000500000000000000" pitchFamily="2" charset="0"/>
              </a:rPr>
              <a:t>Sample</a:t>
            </a:r>
            <a:r>
              <a:rPr lang="sl-SI" sz="2100" dirty="0">
                <a:latin typeface="Alegreya Sans" panose="00000500000000000000" pitchFamily="2" charset="0"/>
              </a:rPr>
              <a:t> </a:t>
            </a:r>
            <a:r>
              <a:rPr lang="sl-SI" sz="2100" dirty="0" err="1">
                <a:latin typeface="Alegreya Sans" panose="00000500000000000000" pitchFamily="2" charset="0"/>
              </a:rPr>
              <a:t>size</a:t>
            </a:r>
            <a:r>
              <a:rPr lang="sl-SI" sz="2100" dirty="0">
                <a:latin typeface="Alegreya Sans" panose="00000500000000000000" pitchFamily="2" charset="0"/>
              </a:rPr>
              <a:t>: 303 </a:t>
            </a:r>
            <a:r>
              <a:rPr lang="sl-SI" sz="2100" dirty="0" err="1">
                <a:latin typeface="Alegreya Sans" panose="00000500000000000000" pitchFamily="2" charset="0"/>
              </a:rPr>
              <a:t>patients</a:t>
            </a:r>
            <a:endParaRPr lang="sl-SI" sz="2100" dirty="0">
              <a:latin typeface="Alegreya Sans" panose="00000500000000000000" pitchFamily="2" charset="0"/>
            </a:endParaRPr>
          </a:p>
          <a:p>
            <a:pPr latinLnBrk="1"/>
            <a:r>
              <a:rPr lang="sl-SI" sz="2100" dirty="0" err="1">
                <a:latin typeface="Alegreya Sans" panose="00000500000000000000" pitchFamily="2" charset="0"/>
              </a:rPr>
              <a:t>Variables</a:t>
            </a:r>
            <a:r>
              <a:rPr lang="sl-SI" sz="2100" dirty="0">
                <a:latin typeface="Alegreya Sans" panose="00000500000000000000" pitchFamily="2" charset="0"/>
              </a:rPr>
              <a:t>: </a:t>
            </a:r>
          </a:p>
          <a:p>
            <a:pPr lvl="1" latinLnBrk="1"/>
            <a:r>
              <a:rPr lang="sl-SI" sz="2100" dirty="0">
                <a:latin typeface="Alegreya Sans" panose="00000500000000000000" pitchFamily="2" charset="0"/>
              </a:rPr>
              <a:t>age, </a:t>
            </a:r>
          </a:p>
          <a:p>
            <a:pPr lvl="1" latinLnBrk="1"/>
            <a:r>
              <a:rPr lang="sl-SI" sz="2100" dirty="0" err="1">
                <a:latin typeface="Alegreya Sans" panose="00000500000000000000" pitchFamily="2" charset="0"/>
              </a:rPr>
              <a:t>sex</a:t>
            </a:r>
            <a:r>
              <a:rPr lang="sl-SI" sz="2100" dirty="0">
                <a:latin typeface="Alegreya Sans" panose="00000500000000000000" pitchFamily="2" charset="0"/>
              </a:rPr>
              <a:t>, </a:t>
            </a:r>
          </a:p>
          <a:p>
            <a:pPr lvl="1" latinLnBrk="1"/>
            <a:r>
              <a:rPr lang="en-US" sz="2100" dirty="0">
                <a:latin typeface="Alegreya Sans" panose="00000500000000000000" pitchFamily="2" charset="0"/>
              </a:rPr>
              <a:t>resting blood pressure in mm Hg</a:t>
            </a:r>
            <a:r>
              <a:rPr lang="sl-SI" sz="2100" dirty="0">
                <a:latin typeface="Alegreya Sans" panose="00000500000000000000" pitchFamily="2" charset="0"/>
              </a:rPr>
              <a:t> (</a:t>
            </a:r>
            <a:r>
              <a:rPr lang="sl-SI" sz="2100" dirty="0" err="1">
                <a:latin typeface="Alegreya Sans" panose="00000500000000000000" pitchFamily="2" charset="0"/>
              </a:rPr>
              <a:t>trestbps</a:t>
            </a:r>
            <a:r>
              <a:rPr lang="sl-SI" sz="2100" dirty="0">
                <a:latin typeface="Alegreya Sans" panose="00000500000000000000" pitchFamily="2" charset="0"/>
              </a:rPr>
              <a:t>), </a:t>
            </a:r>
          </a:p>
          <a:p>
            <a:pPr lvl="1" latinLnBrk="1"/>
            <a:r>
              <a:rPr lang="sl-SI" sz="2100" dirty="0">
                <a:latin typeface="Alegreya Sans" panose="00000500000000000000" pitchFamily="2" charset="0"/>
              </a:rPr>
              <a:t>serum </a:t>
            </a:r>
            <a:r>
              <a:rPr lang="sl-SI" sz="2100" dirty="0" err="1">
                <a:latin typeface="Alegreya Sans" panose="00000500000000000000" pitchFamily="2" charset="0"/>
              </a:rPr>
              <a:t>cholestorol</a:t>
            </a:r>
            <a:r>
              <a:rPr lang="sl-SI" sz="2100" dirty="0">
                <a:latin typeface="Alegreya Sans" panose="00000500000000000000" pitchFamily="2" charset="0"/>
              </a:rPr>
              <a:t> in mg/dl (</a:t>
            </a:r>
            <a:r>
              <a:rPr lang="sl-SI" sz="2100" dirty="0" err="1">
                <a:latin typeface="Alegreya Sans" panose="00000500000000000000" pitchFamily="2" charset="0"/>
              </a:rPr>
              <a:t>chol</a:t>
            </a:r>
            <a:r>
              <a:rPr lang="sl-SI" sz="2100" dirty="0">
                <a:latin typeface="Alegreya Sans" panose="00000500000000000000" pitchFamily="2" charset="0"/>
              </a:rPr>
              <a:t>), </a:t>
            </a:r>
          </a:p>
          <a:p>
            <a:pPr lvl="1" latinLnBrk="1"/>
            <a:r>
              <a:rPr lang="sl-SI" sz="2100" dirty="0" err="1">
                <a:latin typeface="Alegreya Sans" panose="00000500000000000000" pitchFamily="2" charset="0"/>
              </a:rPr>
              <a:t>chest</a:t>
            </a:r>
            <a:r>
              <a:rPr lang="sl-SI" sz="2100" dirty="0">
                <a:latin typeface="Alegreya Sans" panose="00000500000000000000" pitchFamily="2" charset="0"/>
              </a:rPr>
              <a:t> </a:t>
            </a:r>
            <a:r>
              <a:rPr lang="sl-SI" sz="2100" dirty="0" err="1">
                <a:latin typeface="Alegreya Sans" panose="00000500000000000000" pitchFamily="2" charset="0"/>
              </a:rPr>
              <a:t>pain</a:t>
            </a:r>
            <a:r>
              <a:rPr lang="sl-SI" sz="2100" dirty="0">
                <a:latin typeface="Alegreya Sans" panose="00000500000000000000" pitchFamily="2" charset="0"/>
              </a:rPr>
              <a:t> </a:t>
            </a:r>
            <a:r>
              <a:rPr lang="sl-SI" sz="2100" dirty="0" err="1">
                <a:latin typeface="Alegreya Sans" panose="00000500000000000000" pitchFamily="2" charset="0"/>
              </a:rPr>
              <a:t>type</a:t>
            </a:r>
            <a:r>
              <a:rPr lang="sl-SI" sz="2100" dirty="0">
                <a:latin typeface="Alegreya Sans" panose="00000500000000000000" pitchFamily="2" charset="0"/>
              </a:rPr>
              <a:t> (</a:t>
            </a:r>
            <a:r>
              <a:rPr lang="sl-SI" sz="2100" dirty="0" err="1">
                <a:latin typeface="Alegreya Sans" panose="00000500000000000000" pitchFamily="2" charset="0"/>
              </a:rPr>
              <a:t>cp</a:t>
            </a:r>
            <a:r>
              <a:rPr lang="sl-SI" sz="2100" dirty="0">
                <a:latin typeface="Alegreya Sans" panose="00000500000000000000" pitchFamily="2" charset="0"/>
              </a:rPr>
              <a:t>), </a:t>
            </a:r>
          </a:p>
          <a:p>
            <a:pPr lvl="1" latinLnBrk="1"/>
            <a:r>
              <a:rPr lang="sl-SI" sz="2100" dirty="0" err="1">
                <a:latin typeface="Alegreya Sans" panose="00000500000000000000" pitchFamily="2" charset="0"/>
              </a:rPr>
              <a:t>exercise-induced</a:t>
            </a:r>
            <a:r>
              <a:rPr lang="sl-SI" sz="2100" dirty="0">
                <a:latin typeface="Alegreya Sans" panose="00000500000000000000" pitchFamily="2" charset="0"/>
              </a:rPr>
              <a:t> angina (</a:t>
            </a:r>
            <a:r>
              <a:rPr lang="sl-SI" sz="2100" dirty="0" err="1">
                <a:latin typeface="Alegreya Sans" panose="00000500000000000000" pitchFamily="2" charset="0"/>
              </a:rPr>
              <a:t>exang</a:t>
            </a:r>
            <a:r>
              <a:rPr lang="sl-SI" sz="2100" dirty="0">
                <a:latin typeface="Alegreya Sans" panose="00000500000000000000" pitchFamily="2" charset="0"/>
              </a:rPr>
              <a:t>), </a:t>
            </a:r>
          </a:p>
          <a:p>
            <a:pPr lvl="1" latinLnBrk="1"/>
            <a:r>
              <a:rPr lang="sl-SI" sz="2100" dirty="0" err="1">
                <a:latin typeface="Alegreya Sans" panose="00000500000000000000" pitchFamily="2" charset="0"/>
              </a:rPr>
              <a:t>fasting</a:t>
            </a:r>
            <a:r>
              <a:rPr lang="sl-SI" sz="2100" dirty="0">
                <a:latin typeface="Alegreya Sans" panose="00000500000000000000" pitchFamily="2" charset="0"/>
              </a:rPr>
              <a:t> </a:t>
            </a:r>
            <a:r>
              <a:rPr lang="sl-SI" sz="2100" dirty="0" err="1">
                <a:latin typeface="Alegreya Sans" panose="00000500000000000000" pitchFamily="2" charset="0"/>
              </a:rPr>
              <a:t>blood</a:t>
            </a:r>
            <a:r>
              <a:rPr lang="sl-SI" sz="2100" dirty="0">
                <a:latin typeface="Alegreya Sans" panose="00000500000000000000" pitchFamily="2" charset="0"/>
              </a:rPr>
              <a:t> </a:t>
            </a:r>
            <a:r>
              <a:rPr lang="sl-SI" sz="2100" dirty="0" err="1">
                <a:latin typeface="Alegreya Sans" panose="00000500000000000000" pitchFamily="2" charset="0"/>
              </a:rPr>
              <a:t>sugar</a:t>
            </a:r>
            <a:r>
              <a:rPr lang="sl-SI" sz="2100" dirty="0">
                <a:latin typeface="Alegreya Sans" panose="00000500000000000000" pitchFamily="2" charset="0"/>
              </a:rPr>
              <a:t> (</a:t>
            </a:r>
            <a:r>
              <a:rPr lang="sl-SI" sz="2100" dirty="0" err="1">
                <a:latin typeface="Alegreya Sans" panose="00000500000000000000" pitchFamily="2" charset="0"/>
              </a:rPr>
              <a:t>fbs</a:t>
            </a:r>
            <a:r>
              <a:rPr lang="sl-SI" sz="2100" dirty="0">
                <a:latin typeface="Alegreya Sans" panose="00000500000000000000" pitchFamily="2" charset="0"/>
              </a:rPr>
              <a:t>), </a:t>
            </a:r>
          </a:p>
          <a:p>
            <a:pPr lvl="1" latinLnBrk="1"/>
            <a:r>
              <a:rPr lang="en-US" sz="2100" dirty="0">
                <a:latin typeface="Alegreya Sans" panose="00000500000000000000" pitchFamily="2" charset="0"/>
              </a:rPr>
              <a:t>maximum heart rate achieved in exercise test</a:t>
            </a:r>
            <a:r>
              <a:rPr lang="sl-SI" sz="2100" dirty="0">
                <a:latin typeface="Alegreya Sans" panose="00000500000000000000" pitchFamily="2" charset="0"/>
              </a:rPr>
              <a:t> (</a:t>
            </a:r>
            <a:r>
              <a:rPr lang="sl-SI" sz="2100" dirty="0" err="1">
                <a:latin typeface="Alegreya Sans" panose="00000500000000000000" pitchFamily="2" charset="0"/>
              </a:rPr>
              <a:t>thalach</a:t>
            </a:r>
            <a:r>
              <a:rPr lang="sl-SI" sz="2100" dirty="0">
                <a:latin typeface="Alegreya Sans" panose="00000500000000000000" pitchFamily="2" charset="0"/>
              </a:rPr>
              <a:t>), </a:t>
            </a:r>
          </a:p>
          <a:p>
            <a:pPr lvl="1" latinLnBrk="1"/>
            <a:r>
              <a:rPr lang="sl-SI" sz="2100" dirty="0" err="1">
                <a:latin typeface="Alegreya Sans" panose="00000500000000000000" pitchFamily="2" charset="0"/>
              </a:rPr>
              <a:t>heart_disease</a:t>
            </a:r>
            <a:r>
              <a:rPr lang="sl-SI" sz="2100" dirty="0">
                <a:latin typeface="Alegreya Sans" panose="00000500000000000000" pitchFamily="2" charset="0"/>
              </a:rPr>
              <a:t> (</a:t>
            </a:r>
            <a:r>
              <a:rPr lang="sl-SI" sz="2100" dirty="0" err="1">
                <a:latin typeface="Alegreya Sans" panose="00000500000000000000" pitchFamily="2" charset="0"/>
              </a:rPr>
              <a:t>yes</a:t>
            </a:r>
            <a:r>
              <a:rPr lang="sl-SI" sz="2100" dirty="0">
                <a:latin typeface="Alegreya Sans" panose="00000500000000000000" pitchFamily="2" charset="0"/>
              </a:rPr>
              <a:t> </a:t>
            </a:r>
            <a:r>
              <a:rPr lang="sl-SI" sz="2100" dirty="0" err="1">
                <a:latin typeface="Alegreya Sans" panose="00000500000000000000" pitchFamily="2" charset="0"/>
              </a:rPr>
              <a:t>or</a:t>
            </a:r>
            <a:r>
              <a:rPr lang="sl-SI" sz="2100" dirty="0">
                <a:latin typeface="Alegreya Sans" panose="00000500000000000000" pitchFamily="2" charset="0"/>
              </a:rPr>
              <a:t> no)</a:t>
            </a: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535647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19F20-9F06-7D6E-2035-77A66D08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Benchmarks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/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thresholds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–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cholesterol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vs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240 mg/dl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F5E70-8C45-89D5-14A2-5A69931D57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l-SI" sz="1900" dirty="0" err="1">
                <a:latin typeface="Alegreya Sans" panose="00000500000000000000" pitchFamily="2" charset="0"/>
              </a:rPr>
              <a:t>Question</a:t>
            </a:r>
            <a:r>
              <a:rPr lang="sl-SI" sz="1900" dirty="0">
                <a:latin typeface="Alegreya Sans" panose="00000500000000000000" pitchFamily="2" charset="0"/>
              </a:rPr>
              <a:t>: </a:t>
            </a:r>
            <a:r>
              <a:rPr lang="en-US" sz="1900" dirty="0">
                <a:latin typeface="Alegreya Sans" panose="00000500000000000000" pitchFamily="2" charset="0"/>
              </a:rPr>
              <a:t>For each subgroup</a:t>
            </a:r>
            <a:r>
              <a:rPr lang="sl-SI" sz="1900" dirty="0">
                <a:latin typeface="Alegreya Sans" panose="00000500000000000000" pitchFamily="2" charset="0"/>
              </a:rPr>
              <a:t> (</a:t>
            </a:r>
            <a:r>
              <a:rPr lang="sl-SI" sz="1900" dirty="0" err="1">
                <a:latin typeface="Alegreya Sans" panose="00000500000000000000" pitchFamily="2" charset="0"/>
              </a:rPr>
              <a:t>yes_hd</a:t>
            </a:r>
            <a:r>
              <a:rPr lang="sl-SI" sz="1900" dirty="0">
                <a:latin typeface="Alegreya Sans" panose="00000500000000000000" pitchFamily="2" charset="0"/>
              </a:rPr>
              <a:t>, </a:t>
            </a:r>
            <a:r>
              <a:rPr lang="sl-SI" sz="1900" dirty="0" err="1">
                <a:latin typeface="Alegreya Sans" panose="00000500000000000000" pitchFamily="2" charset="0"/>
              </a:rPr>
              <a:t>no_hd</a:t>
            </a:r>
            <a:r>
              <a:rPr lang="sl-SI" sz="1900" dirty="0">
                <a:latin typeface="Alegreya Sans" panose="00000500000000000000" pitchFamily="2" charset="0"/>
              </a:rPr>
              <a:t>)</a:t>
            </a:r>
            <a:r>
              <a:rPr lang="en-US" sz="1900" dirty="0">
                <a:latin typeface="Alegreya Sans" panose="00000500000000000000" pitchFamily="2" charset="0"/>
              </a:rPr>
              <a:t>, is mean cholesterol significantly greater than 240 mg/dl</a:t>
            </a:r>
            <a:r>
              <a:rPr lang="sl-SI" sz="1900" dirty="0">
                <a:latin typeface="Alegreya Sans" panose="00000500000000000000" pitchFamily="2" charset="0"/>
              </a:rPr>
              <a:t> (</a:t>
            </a:r>
            <a:r>
              <a:rPr lang="sl-SI" sz="1900" dirty="0" err="1">
                <a:latin typeface="Alegreya Sans" panose="00000500000000000000" pitchFamily="2" charset="0"/>
              </a:rPr>
              <a:t>the</a:t>
            </a:r>
            <a:r>
              <a:rPr lang="sl-SI" sz="1900" dirty="0">
                <a:latin typeface="Alegreya Sans" panose="00000500000000000000" pitchFamily="2" charset="0"/>
              </a:rPr>
              <a:t> “</a:t>
            </a:r>
            <a:r>
              <a:rPr lang="sl-SI" sz="1900" dirty="0" err="1">
                <a:latin typeface="Alegreya Sans" panose="00000500000000000000" pitchFamily="2" charset="0"/>
              </a:rPr>
              <a:t>high</a:t>
            </a:r>
            <a:r>
              <a:rPr lang="sl-SI" sz="1900" dirty="0">
                <a:latin typeface="Alegreya Sans" panose="00000500000000000000" pitchFamily="2" charset="0"/>
              </a:rPr>
              <a:t> </a:t>
            </a:r>
            <a:r>
              <a:rPr lang="sl-SI" sz="1900" dirty="0" err="1">
                <a:latin typeface="Alegreya Sans" panose="00000500000000000000" pitchFamily="2" charset="0"/>
              </a:rPr>
              <a:t>cholesterol</a:t>
            </a:r>
            <a:r>
              <a:rPr lang="sl-SI" sz="1900" dirty="0">
                <a:latin typeface="Alegreya Sans" panose="00000500000000000000" pitchFamily="2" charset="0"/>
              </a:rPr>
              <a:t>” </a:t>
            </a:r>
            <a:r>
              <a:rPr lang="sl-SI" sz="1900" dirty="0" err="1">
                <a:latin typeface="Alegreya Sans" panose="00000500000000000000" pitchFamily="2" charset="0"/>
              </a:rPr>
              <a:t>threshold</a:t>
            </a:r>
            <a:r>
              <a:rPr lang="sl-SI" sz="1900" dirty="0">
                <a:latin typeface="Alegreya Sans" panose="00000500000000000000" pitchFamily="2" charset="0"/>
              </a:rPr>
              <a:t>)</a:t>
            </a:r>
            <a:r>
              <a:rPr lang="en-US" sz="1900" dirty="0">
                <a:latin typeface="Alegreya Sans" panose="00000500000000000000" pitchFamily="2" charset="0"/>
              </a:rPr>
              <a:t>?</a:t>
            </a:r>
            <a:endParaRPr lang="sl-SI" sz="1900" dirty="0">
              <a:latin typeface="Alegreya Sans" panose="00000500000000000000" pitchFamily="2" charset="0"/>
            </a:endParaRPr>
          </a:p>
          <a:p>
            <a:r>
              <a:rPr lang="sl-SI" sz="1900" dirty="0" err="1">
                <a:latin typeface="Alegreya Sans" panose="00000500000000000000" pitchFamily="2" charset="0"/>
              </a:rPr>
              <a:t>Results</a:t>
            </a:r>
            <a:r>
              <a:rPr lang="sl-SI" sz="1900" dirty="0">
                <a:latin typeface="Alegreya Sans" panose="00000500000000000000" pitchFamily="2" charset="0"/>
              </a:rPr>
              <a:t>: </a:t>
            </a:r>
          </a:p>
          <a:p>
            <a:pPr lvl="1"/>
            <a:r>
              <a:rPr lang="sl-SI" sz="1900" b="1" dirty="0">
                <a:latin typeface="Alegreya Sans" panose="00000500000000000000" pitchFamily="2" charset="0"/>
              </a:rPr>
              <a:t>H</a:t>
            </a:r>
            <a:r>
              <a:rPr lang="en-US" sz="1900" b="1" dirty="0" err="1">
                <a:latin typeface="Alegreya Sans" panose="00000500000000000000" pitchFamily="2" charset="0"/>
              </a:rPr>
              <a:t>eart</a:t>
            </a:r>
            <a:r>
              <a:rPr lang="en-US" sz="1900" b="1" dirty="0">
                <a:latin typeface="Alegreya Sans" panose="00000500000000000000" pitchFamily="2" charset="0"/>
              </a:rPr>
              <a:t> disease (presence):</a:t>
            </a:r>
            <a:r>
              <a:rPr lang="en-US" sz="1900" dirty="0">
                <a:latin typeface="Alegreya Sans" panose="00000500000000000000" pitchFamily="2" charset="0"/>
              </a:rPr>
              <a:t> Mean cholesterol </a:t>
            </a:r>
            <a:r>
              <a:rPr lang="en-US" sz="1900" b="1" dirty="0">
                <a:latin typeface="Alegreya Sans" panose="00000500000000000000" pitchFamily="2" charset="0"/>
              </a:rPr>
              <a:t>251.47 mg/dl</a:t>
            </a:r>
            <a:r>
              <a:rPr lang="en-US" sz="1900" dirty="0">
                <a:latin typeface="Alegreya Sans" panose="00000500000000000000" pitchFamily="2" charset="0"/>
              </a:rPr>
              <a:t> (</a:t>
            </a:r>
            <a:r>
              <a:rPr lang="en-US" sz="1900" b="1" dirty="0">
                <a:latin typeface="Alegreya Sans" panose="00000500000000000000" pitchFamily="2" charset="0"/>
              </a:rPr>
              <a:t>+11.47</a:t>
            </a:r>
            <a:r>
              <a:rPr lang="en-US" sz="1900" dirty="0">
                <a:latin typeface="Alegreya Sans" panose="00000500000000000000" pitchFamily="2" charset="0"/>
              </a:rPr>
              <a:t> above 240); </a:t>
            </a:r>
            <a:endParaRPr lang="sl-SI" sz="1900" dirty="0">
              <a:latin typeface="Alegreya Sans" panose="00000500000000000000" pitchFamily="2" charset="0"/>
            </a:endParaRPr>
          </a:p>
          <a:p>
            <a:pPr marL="457200" lvl="1" indent="0">
              <a:buNone/>
            </a:pPr>
            <a:r>
              <a:rPr lang="sl-SI" sz="1900" dirty="0">
                <a:latin typeface="Alegreya Sans" panose="00000500000000000000" pitchFamily="2" charset="0"/>
              </a:rPr>
              <a:t>	</a:t>
            </a:r>
            <a:r>
              <a:rPr lang="en-US" sz="1900" dirty="0">
                <a:latin typeface="Alegreya Sans" panose="00000500000000000000" pitchFamily="2" charset="0"/>
              </a:rPr>
              <a:t>one-sample t-test vs 240 </a:t>
            </a:r>
            <a:endParaRPr lang="sl-SI" sz="1900" dirty="0">
              <a:latin typeface="Alegreya Sans" panose="00000500000000000000" pitchFamily="2" charset="0"/>
            </a:endParaRPr>
          </a:p>
          <a:p>
            <a:pPr marL="457200" lvl="1" indent="0">
              <a:buNone/>
            </a:pPr>
            <a:r>
              <a:rPr lang="sl-SI" sz="1900" b="1" dirty="0">
                <a:latin typeface="Alegreya Sans" panose="00000500000000000000" pitchFamily="2" charset="0"/>
              </a:rPr>
              <a:t>	</a:t>
            </a:r>
            <a:r>
              <a:rPr lang="en-US" sz="1900" b="1" dirty="0">
                <a:latin typeface="Alegreya Sans" panose="00000500000000000000" pitchFamily="2" charset="0"/>
              </a:rPr>
              <a:t>p(one-sided)=0.0035</a:t>
            </a:r>
            <a:r>
              <a:rPr lang="en-US" sz="1900" dirty="0">
                <a:latin typeface="Alegreya Sans" panose="00000500000000000000" pitchFamily="2" charset="0"/>
              </a:rPr>
              <a:t> → </a:t>
            </a:r>
            <a:r>
              <a:rPr lang="en-US" sz="1900" b="1" dirty="0">
                <a:latin typeface="Alegreya Sans" panose="00000500000000000000" pitchFamily="2" charset="0"/>
              </a:rPr>
              <a:t>significantly higher</a:t>
            </a:r>
            <a:r>
              <a:rPr lang="sl-SI" sz="1900" b="1" dirty="0">
                <a:latin typeface="Alegreya Sans" panose="00000500000000000000" pitchFamily="2" charset="0"/>
              </a:rPr>
              <a:t>!</a:t>
            </a:r>
          </a:p>
          <a:p>
            <a:pPr lvl="1"/>
            <a:r>
              <a:rPr lang="sl-SI" sz="1900" b="1" dirty="0">
                <a:latin typeface="Alegreya Sans" panose="00000500000000000000" pitchFamily="2" charset="0"/>
              </a:rPr>
              <a:t>N</a:t>
            </a:r>
            <a:r>
              <a:rPr lang="en-US" sz="1900" b="1" dirty="0">
                <a:latin typeface="Alegreya Sans" panose="00000500000000000000" pitchFamily="2" charset="0"/>
              </a:rPr>
              <a:t>o heart disease (absence):</a:t>
            </a:r>
            <a:r>
              <a:rPr lang="en-US" sz="1900" dirty="0">
                <a:latin typeface="Alegreya Sans" panose="00000500000000000000" pitchFamily="2" charset="0"/>
              </a:rPr>
              <a:t> Mean cholesterol </a:t>
            </a:r>
            <a:r>
              <a:rPr lang="en-US" sz="1900" b="1" dirty="0">
                <a:latin typeface="Alegreya Sans" panose="00000500000000000000" pitchFamily="2" charset="0"/>
              </a:rPr>
              <a:t>242.64 mg/dl</a:t>
            </a:r>
            <a:r>
              <a:rPr lang="en-US" sz="1900" dirty="0">
                <a:latin typeface="Alegreya Sans" panose="00000500000000000000" pitchFamily="2" charset="0"/>
              </a:rPr>
              <a:t> (</a:t>
            </a:r>
            <a:r>
              <a:rPr lang="en-US" sz="1900" b="1" dirty="0">
                <a:latin typeface="Alegreya Sans" panose="00000500000000000000" pitchFamily="2" charset="0"/>
              </a:rPr>
              <a:t>+2.64</a:t>
            </a:r>
            <a:r>
              <a:rPr lang="en-US" sz="1900" dirty="0">
                <a:latin typeface="Alegreya Sans" panose="00000500000000000000" pitchFamily="2" charset="0"/>
              </a:rPr>
              <a:t> above 240); </a:t>
            </a:r>
            <a:endParaRPr lang="sl-SI" sz="1900" dirty="0">
              <a:latin typeface="Alegreya Sans" panose="00000500000000000000" pitchFamily="2" charset="0"/>
            </a:endParaRPr>
          </a:p>
          <a:p>
            <a:pPr marL="457200" lvl="1" indent="0">
              <a:buNone/>
            </a:pPr>
            <a:r>
              <a:rPr lang="sl-SI" sz="1900" dirty="0">
                <a:latin typeface="Alegreya Sans" panose="00000500000000000000" pitchFamily="2" charset="0"/>
              </a:rPr>
              <a:t>	</a:t>
            </a:r>
            <a:r>
              <a:rPr lang="en-US" sz="1900" dirty="0">
                <a:latin typeface="Alegreya Sans" panose="00000500000000000000" pitchFamily="2" charset="0"/>
              </a:rPr>
              <a:t>one-sample t-test vs 240 </a:t>
            </a:r>
            <a:endParaRPr lang="sl-SI" sz="1900" dirty="0">
              <a:latin typeface="Alegreya Sans" panose="00000500000000000000" pitchFamily="2" charset="0"/>
            </a:endParaRPr>
          </a:p>
          <a:p>
            <a:pPr marL="457200" lvl="1" indent="0">
              <a:buNone/>
            </a:pPr>
            <a:r>
              <a:rPr lang="sl-SI" sz="1900" b="1" dirty="0">
                <a:latin typeface="Alegreya Sans" panose="00000500000000000000" pitchFamily="2" charset="0"/>
              </a:rPr>
              <a:t>	</a:t>
            </a:r>
            <a:r>
              <a:rPr lang="en-US" sz="1900" b="1" dirty="0">
                <a:latin typeface="Alegreya Sans" panose="00000500000000000000" pitchFamily="2" charset="0"/>
              </a:rPr>
              <a:t>p(one-sided)=0.264</a:t>
            </a:r>
            <a:r>
              <a:rPr lang="en-US" sz="1900" dirty="0">
                <a:latin typeface="Alegreya Sans" panose="00000500000000000000" pitchFamily="2" charset="0"/>
              </a:rPr>
              <a:t> → </a:t>
            </a:r>
            <a:r>
              <a:rPr lang="en-US" sz="1900" b="1" dirty="0">
                <a:latin typeface="Alegreya Sans" panose="00000500000000000000" pitchFamily="2" charset="0"/>
              </a:rPr>
              <a:t>not significantly </a:t>
            </a:r>
            <a:r>
              <a:rPr lang="sl-SI" sz="1900" b="1" dirty="0">
                <a:latin typeface="Alegreya Sans" panose="00000500000000000000" pitchFamily="2" charset="0"/>
              </a:rPr>
              <a:t>	</a:t>
            </a:r>
            <a:r>
              <a:rPr lang="en-US" sz="1900" b="1" dirty="0">
                <a:latin typeface="Alegreya Sans" panose="00000500000000000000" pitchFamily="2" charset="0"/>
              </a:rPr>
              <a:t>higher</a:t>
            </a:r>
            <a:r>
              <a:rPr lang="en-US" sz="1900" dirty="0">
                <a:latin typeface="Alegreya Sans" panose="00000500000000000000" pitchFamily="2" charset="0"/>
              </a:rPr>
              <a:t>.</a:t>
            </a:r>
            <a:endParaRPr lang="sl-SI" sz="1900" dirty="0">
              <a:latin typeface="Alegreya Sans" panose="00000500000000000000" pitchFamily="2" charset="0"/>
            </a:endParaRPr>
          </a:p>
          <a:p>
            <a:r>
              <a:rPr lang="sl-SI" sz="1900" dirty="0" err="1"/>
              <a:t>Conclusion</a:t>
            </a:r>
            <a:r>
              <a:rPr lang="sl-SI" sz="1900" dirty="0"/>
              <a:t>: </a:t>
            </a:r>
            <a:r>
              <a:rPr lang="en-US" sz="1900" dirty="0"/>
              <a:t>In this sample, </a:t>
            </a:r>
            <a:r>
              <a:rPr lang="en-US" sz="1900" b="1" dirty="0"/>
              <a:t>only the heart disease group shows evidence that average cholesterol exceeds the “high cholesterol” threshold</a:t>
            </a:r>
            <a:r>
              <a:rPr lang="en-US" sz="1900" dirty="0"/>
              <a:t>.</a:t>
            </a:r>
            <a:endParaRPr lang="sl-SI" sz="1900" dirty="0">
              <a:latin typeface="Alegreya Sans" panose="00000500000000000000" pitchFamily="2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051D2D4-9ABA-E533-A8FA-BE8CBE730D1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33759" y="2091265"/>
            <a:ext cx="5058481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364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F1477E1-209A-5ED9-5ABE-F77753348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Benchmarks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/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thresholds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>
                <a:latin typeface="Alegreya Sans" panose="00000500000000000000" pitchFamily="2" charset="0"/>
              </a:rPr>
              <a:t>–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fasting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blood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sugar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(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fbs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)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vs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8%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population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benchmark</a:t>
            </a:r>
            <a:endParaRPr lang="sl-SI" sz="2400" b="1" dirty="0">
              <a:latin typeface="Alegreya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08CDDE2-977D-A5AC-33CE-40B4A17779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sl-SI" sz="1800" dirty="0" err="1">
                <a:latin typeface="Alegreya Sans" panose="00000500000000000000" pitchFamily="2" charset="0"/>
              </a:rPr>
              <a:t>Question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Is the rate of </a:t>
            </a:r>
            <a:r>
              <a:rPr lang="en-US" sz="1800" b="1" dirty="0">
                <a:latin typeface="Alegreya Sans" panose="00000500000000000000" pitchFamily="2" charset="0"/>
              </a:rPr>
              <a:t>FBS &gt;120 mg/dl </a:t>
            </a:r>
            <a:r>
              <a:rPr lang="en-US" sz="1800" dirty="0">
                <a:latin typeface="Alegreya Sans" panose="00000500000000000000" pitchFamily="2" charset="0"/>
              </a:rPr>
              <a:t>in this sample consistent with an </a:t>
            </a:r>
            <a:r>
              <a:rPr lang="en-US" sz="1800" b="1" dirty="0">
                <a:latin typeface="Alegreya Sans" panose="00000500000000000000" pitchFamily="2" charset="0"/>
              </a:rPr>
              <a:t>8%</a:t>
            </a:r>
            <a:r>
              <a:rPr lang="en-US" sz="1800" dirty="0">
                <a:latin typeface="Alegreya Sans" panose="00000500000000000000" pitchFamily="2" charset="0"/>
              </a:rPr>
              <a:t> population baseline (1988), or is it </a:t>
            </a:r>
            <a:r>
              <a:rPr lang="en-US" sz="1800" b="1" dirty="0">
                <a:latin typeface="Alegreya Sans" panose="00000500000000000000" pitchFamily="2" charset="0"/>
              </a:rPr>
              <a:t>higher</a:t>
            </a:r>
            <a:r>
              <a:rPr lang="en-US" sz="1800" dirty="0">
                <a:latin typeface="Alegreya Sans" panose="00000500000000000000" pitchFamily="2" charset="0"/>
              </a:rPr>
              <a:t>?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Results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</a:p>
          <a:p>
            <a:pPr lvl="1"/>
            <a:r>
              <a:rPr lang="en-US" sz="1800" b="1" dirty="0">
                <a:latin typeface="Alegreya Sans" panose="00000500000000000000" pitchFamily="2" charset="0"/>
              </a:rPr>
              <a:t>High FBS (&gt;120):</a:t>
            </a:r>
            <a:r>
              <a:rPr lang="en-US" sz="1800" dirty="0">
                <a:latin typeface="Alegreya Sans" panose="00000500000000000000" pitchFamily="2" charset="0"/>
              </a:rPr>
              <a:t> </a:t>
            </a:r>
            <a:r>
              <a:rPr lang="en-US" sz="1800" b="1" dirty="0">
                <a:latin typeface="Alegreya Sans" panose="00000500000000000000" pitchFamily="2" charset="0"/>
              </a:rPr>
              <a:t>45</a:t>
            </a:r>
            <a:r>
              <a:rPr lang="en-US" sz="1800" dirty="0">
                <a:latin typeface="Alegreya Sans" panose="00000500000000000000" pitchFamily="2" charset="0"/>
              </a:rPr>
              <a:t> patients → </a:t>
            </a:r>
            <a:r>
              <a:rPr lang="en-US" sz="1800" b="1" dirty="0">
                <a:latin typeface="Alegreya Sans" panose="00000500000000000000" pitchFamily="2" charset="0"/>
              </a:rPr>
              <a:t>14.85%</a:t>
            </a:r>
            <a:r>
              <a:rPr lang="en-US" sz="1800" dirty="0">
                <a:latin typeface="Alegreya Sans" panose="00000500000000000000" pitchFamily="2" charset="0"/>
              </a:rPr>
              <a:t> (45/303)</a:t>
            </a:r>
            <a:endParaRPr lang="sl-SI" sz="1800" dirty="0">
              <a:latin typeface="Alegreya Sans" panose="00000500000000000000" pitchFamily="2" charset="0"/>
            </a:endParaRPr>
          </a:p>
          <a:p>
            <a:pPr lvl="1"/>
            <a:r>
              <a:rPr lang="en-US" sz="1800" b="1" dirty="0">
                <a:latin typeface="Alegreya Sans" panose="00000500000000000000" pitchFamily="2" charset="0"/>
              </a:rPr>
              <a:t>Expected at 8%:</a:t>
            </a:r>
            <a:r>
              <a:rPr lang="en-US" sz="1800" dirty="0">
                <a:latin typeface="Alegreya Sans" panose="00000500000000000000" pitchFamily="2" charset="0"/>
              </a:rPr>
              <a:t> </a:t>
            </a:r>
            <a:r>
              <a:rPr lang="en-US" sz="1800" b="1" dirty="0">
                <a:latin typeface="Alegreya Sans" panose="00000500000000000000" pitchFamily="2" charset="0"/>
              </a:rPr>
              <a:t>~24</a:t>
            </a:r>
            <a:r>
              <a:rPr lang="en-US" sz="1800" dirty="0">
                <a:latin typeface="Alegreya Sans" panose="00000500000000000000" pitchFamily="2" charset="0"/>
              </a:rPr>
              <a:t> patients (0.08 × 303)</a:t>
            </a:r>
            <a:endParaRPr lang="sl-SI" sz="1800" dirty="0">
              <a:latin typeface="Alegreya Sans" panose="00000500000000000000" pitchFamily="2" charset="0"/>
            </a:endParaRPr>
          </a:p>
          <a:p>
            <a:pPr lvl="1"/>
            <a:r>
              <a:rPr lang="en-US" sz="1800" b="1" dirty="0">
                <a:latin typeface="Alegreya Sans" panose="00000500000000000000" pitchFamily="2" charset="0"/>
              </a:rPr>
              <a:t>Binomial test (H1: rate &gt; 8%):</a:t>
            </a:r>
            <a:r>
              <a:rPr lang="en-US" sz="1800" dirty="0">
                <a:latin typeface="Alegreya Sans" panose="00000500000000000000" pitchFamily="2" charset="0"/>
              </a:rPr>
              <a:t> </a:t>
            </a:r>
            <a:r>
              <a:rPr lang="en-US" sz="1800" b="1" dirty="0">
                <a:latin typeface="Alegreya Sans" panose="00000500000000000000" pitchFamily="2" charset="0"/>
              </a:rPr>
              <a:t>p = 4.69e−05</a:t>
            </a:r>
            <a:r>
              <a:rPr lang="en-US" sz="1800" dirty="0">
                <a:latin typeface="Alegreya Sans" panose="00000500000000000000" pitchFamily="2" charset="0"/>
              </a:rPr>
              <a:t> → </a:t>
            </a:r>
            <a:r>
              <a:rPr lang="en-US" sz="1800" b="1" dirty="0">
                <a:latin typeface="Alegreya Sans" panose="00000500000000000000" pitchFamily="2" charset="0"/>
              </a:rPr>
              <a:t>significantly higher</a:t>
            </a:r>
            <a:r>
              <a:rPr lang="sl-SI" sz="1800" b="1" dirty="0">
                <a:latin typeface="Alegreya Sans" panose="00000500000000000000" pitchFamily="2" charset="0"/>
              </a:rPr>
              <a:t>!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Conclusion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This clinical sample shows an </a:t>
            </a:r>
            <a:r>
              <a:rPr lang="en-US" sz="1800" b="1" dirty="0">
                <a:latin typeface="Alegreya Sans" panose="00000500000000000000" pitchFamily="2" charset="0"/>
              </a:rPr>
              <a:t>elevated high-FBS rate </a:t>
            </a:r>
            <a:r>
              <a:rPr lang="en-US" sz="1800" dirty="0">
                <a:latin typeface="Alegreya Sans" panose="00000500000000000000" pitchFamily="2" charset="0"/>
              </a:rPr>
              <a:t>compared to the 8% benchmark (expected ~24, observed 45), suggesting this clinical sample is </a:t>
            </a:r>
            <a:r>
              <a:rPr lang="en-US" sz="1800" b="1" dirty="0">
                <a:latin typeface="Alegreya Sans" panose="00000500000000000000" pitchFamily="2" charset="0"/>
              </a:rPr>
              <a:t>not representative</a:t>
            </a:r>
            <a:r>
              <a:rPr lang="en-US" sz="1800" dirty="0">
                <a:latin typeface="Alegreya Sans" panose="00000500000000000000" pitchFamily="2" charset="0"/>
              </a:rPr>
              <a:t> of the general population </a:t>
            </a:r>
            <a:r>
              <a:rPr lang="sl-SI" sz="1800" dirty="0">
                <a:latin typeface="Alegreya Sans" panose="00000500000000000000" pitchFamily="2" charset="0"/>
              </a:rPr>
              <a:t>(</a:t>
            </a:r>
            <a:r>
              <a:rPr lang="sl-SI" sz="1800" dirty="0" err="1">
                <a:latin typeface="Alegreya Sans" panose="00000500000000000000" pitchFamily="2" charset="0"/>
              </a:rPr>
              <a:t>from</a:t>
            </a:r>
            <a:r>
              <a:rPr lang="sl-SI" sz="1800" dirty="0">
                <a:latin typeface="Alegreya Sans" panose="00000500000000000000" pitchFamily="2" charset="0"/>
              </a:rPr>
              <a:t> 1988) </a:t>
            </a:r>
            <a:r>
              <a:rPr lang="en-US" sz="1800" dirty="0">
                <a:latin typeface="Alegreya Sans" panose="00000500000000000000" pitchFamily="2" charset="0"/>
              </a:rPr>
              <a:t>on this metric.</a:t>
            </a:r>
            <a:endParaRPr lang="sl-SI" sz="1800" dirty="0">
              <a:latin typeface="Alegreya Sans" panose="00000500000000000000" pitchFamily="2" charset="0"/>
            </a:endParaRPr>
          </a:p>
        </p:txBody>
      </p:sp>
      <p:pic>
        <p:nvPicPr>
          <p:cNvPr id="14" name="Content Placeholder 13" descr="A graph of a number of blue squares&#10;&#10;AI-generated content may be incorrect.">
            <a:extLst>
              <a:ext uri="{FF2B5EF4-FFF2-40B4-BE49-F238E27FC236}">
                <a16:creationId xmlns:a16="http://schemas.microsoft.com/office/drawing/2014/main" id="{11FA8BFD-A092-6899-76D1-F0A241FF2C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81391" y="2162712"/>
            <a:ext cx="4963218" cy="36771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E838D7B-9871-AEED-1D00-718CC1988CD2}"/>
              </a:ext>
            </a:extLst>
          </p:cNvPr>
          <p:cNvSpPr txBox="1"/>
          <p:nvPr/>
        </p:nvSpPr>
        <p:spPr>
          <a:xfrm>
            <a:off x="7833897" y="5807631"/>
            <a:ext cx="3410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b="1" dirty="0">
                <a:latin typeface="Alegreya Sans" panose="00000500000000000000" pitchFamily="2" charset="0"/>
              </a:rPr>
              <a:t>o</a:t>
            </a:r>
            <a:r>
              <a:rPr lang="en-US" b="1" dirty="0" err="1">
                <a:latin typeface="Alegreya Sans" panose="00000500000000000000" pitchFamily="2" charset="0"/>
              </a:rPr>
              <a:t>bserved</a:t>
            </a:r>
            <a:r>
              <a:rPr lang="en-US" b="1" dirty="0">
                <a:latin typeface="Alegreya Sans" panose="00000500000000000000" pitchFamily="2" charset="0"/>
              </a:rPr>
              <a:t> 45 vs expected 24</a:t>
            </a:r>
            <a:endParaRPr lang="sl-SI" dirty="0">
              <a:latin typeface="Alegreya Sa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958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1FAD356-FED5-955C-AC21-3E93F6716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2400" b="1" dirty="0" err="1">
                <a:latin typeface="Alegreya Sans" panose="00000500000000000000" pitchFamily="2" charset="0"/>
              </a:rPr>
              <a:t>Symptom</a:t>
            </a:r>
            <a:r>
              <a:rPr lang="sl-SI" sz="2400" b="1" dirty="0">
                <a:latin typeface="Alegreya Sans" panose="00000500000000000000" pitchFamily="2" charset="0"/>
              </a:rPr>
              <a:t> + </a:t>
            </a:r>
            <a:r>
              <a:rPr lang="sl-SI" sz="2400" b="1" dirty="0" err="1">
                <a:latin typeface="Alegreya Sans" panose="00000500000000000000" pitchFamily="2" charset="0"/>
              </a:rPr>
              <a:t>exercise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</a:rPr>
              <a:t>signals</a:t>
            </a:r>
            <a:r>
              <a:rPr lang="sl-SI" sz="2400" b="1" dirty="0">
                <a:latin typeface="Alegreya Sans" panose="00000500000000000000" pitchFamily="2" charset="0"/>
              </a:rPr>
              <a:t> – </a:t>
            </a:r>
            <a:r>
              <a:rPr lang="sl-SI" sz="2400" b="1" dirty="0" err="1">
                <a:latin typeface="Alegreya Sans" panose="00000500000000000000" pitchFamily="2" charset="0"/>
              </a:rPr>
              <a:t>kind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</a:rPr>
              <a:t>of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</a:rPr>
              <a:t>chest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</a:rPr>
              <a:t>pain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</a:rPr>
              <a:t>vs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</a:rPr>
              <a:t>heart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</a:rPr>
              <a:t>disease</a:t>
            </a:r>
            <a:endParaRPr lang="sl-SI" sz="2400" b="1" dirty="0">
              <a:latin typeface="Alegreya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ED2B616-352B-82AC-D9FC-91AB91C198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l-SI" sz="1900" dirty="0" err="1">
                <a:latin typeface="Alegreya Sans" panose="00000500000000000000" pitchFamily="2" charset="0"/>
              </a:rPr>
              <a:t>Question</a:t>
            </a:r>
            <a:r>
              <a:rPr lang="sl-SI" sz="1900" dirty="0">
                <a:latin typeface="Alegreya Sans" panose="00000500000000000000" pitchFamily="2" charset="0"/>
              </a:rPr>
              <a:t>: </a:t>
            </a:r>
            <a:r>
              <a:rPr lang="en-US" sz="1900" dirty="0">
                <a:latin typeface="Alegreya Sans" panose="00000500000000000000" pitchFamily="2" charset="0"/>
              </a:rPr>
              <a:t>Is </a:t>
            </a:r>
            <a:r>
              <a:rPr lang="en-US" sz="1900" b="1" dirty="0">
                <a:latin typeface="Alegreya Sans" panose="00000500000000000000" pitchFamily="2" charset="0"/>
              </a:rPr>
              <a:t>chest pain type </a:t>
            </a:r>
            <a:r>
              <a:rPr lang="en-US" sz="1900" dirty="0">
                <a:latin typeface="Alegreya Sans" panose="00000500000000000000" pitchFamily="2" charset="0"/>
              </a:rPr>
              <a:t>(cp) associated with whether a patient will ultimately be diagnosed with </a:t>
            </a:r>
            <a:r>
              <a:rPr lang="en-US" sz="1900" b="1" dirty="0">
                <a:latin typeface="Alegreya Sans" panose="00000500000000000000" pitchFamily="2" charset="0"/>
              </a:rPr>
              <a:t>heart disease</a:t>
            </a:r>
            <a:r>
              <a:rPr lang="en-US" sz="1900" dirty="0">
                <a:latin typeface="Alegreya Sans" panose="00000500000000000000" pitchFamily="2" charset="0"/>
              </a:rPr>
              <a:t>?</a:t>
            </a:r>
            <a:endParaRPr lang="sl-SI" sz="1900" dirty="0">
              <a:latin typeface="Alegreya Sans" panose="00000500000000000000" pitchFamily="2" charset="0"/>
            </a:endParaRPr>
          </a:p>
          <a:p>
            <a:r>
              <a:rPr lang="sl-SI" sz="1900" dirty="0" err="1">
                <a:latin typeface="Alegreya Sans" panose="00000500000000000000" pitchFamily="2" charset="0"/>
              </a:rPr>
              <a:t>Results</a:t>
            </a:r>
            <a:r>
              <a:rPr lang="sl-SI" sz="1900" dirty="0">
                <a:latin typeface="Alegreya Sans" panose="00000500000000000000" pitchFamily="2" charset="0"/>
              </a:rPr>
              <a:t> (</a:t>
            </a:r>
            <a:r>
              <a:rPr lang="sl-SI" sz="1900" dirty="0" err="1">
                <a:latin typeface="Alegreya Sans" panose="00000500000000000000" pitchFamily="2" charset="0"/>
              </a:rPr>
              <a:t>contingency</a:t>
            </a:r>
            <a:r>
              <a:rPr lang="sl-SI" sz="1900" dirty="0">
                <a:latin typeface="Alegreya Sans" panose="00000500000000000000" pitchFamily="2" charset="0"/>
              </a:rPr>
              <a:t> table + </a:t>
            </a:r>
            <a:r>
              <a:rPr lang="el-GR" sz="1900" dirty="0">
                <a:latin typeface="Alegreya Sans" panose="00000500000000000000" pitchFamily="2" charset="0"/>
              </a:rPr>
              <a:t>χ² </a:t>
            </a:r>
            <a:r>
              <a:rPr lang="sl-SI" sz="1900" dirty="0">
                <a:latin typeface="Alegreya Sans" panose="00000500000000000000" pitchFamily="2" charset="0"/>
              </a:rPr>
              <a:t>test):</a:t>
            </a:r>
          </a:p>
          <a:p>
            <a:pPr lvl="1"/>
            <a:r>
              <a:rPr lang="sl-SI" sz="1900" b="1" dirty="0" err="1">
                <a:latin typeface="Alegreya Sans" panose="00000500000000000000" pitchFamily="2" charset="0"/>
              </a:rPr>
              <a:t>Yes</a:t>
            </a:r>
            <a:r>
              <a:rPr lang="sl-SI" sz="1900" dirty="0">
                <a:latin typeface="Alegreya Sans" panose="00000500000000000000" pitchFamily="2" charset="0"/>
              </a:rPr>
              <a:t>, c</a:t>
            </a:r>
            <a:r>
              <a:rPr lang="en-US" sz="1900" dirty="0" err="1">
                <a:latin typeface="Alegreya Sans" panose="00000500000000000000" pitchFamily="2" charset="0"/>
              </a:rPr>
              <a:t>hest</a:t>
            </a:r>
            <a:r>
              <a:rPr lang="en-US" sz="1900" dirty="0">
                <a:latin typeface="Alegreya Sans" panose="00000500000000000000" pitchFamily="2" charset="0"/>
              </a:rPr>
              <a:t> pain type and heart disease diagnosis are significantly associated in this sample</a:t>
            </a:r>
            <a:endParaRPr lang="sl-SI" sz="1900" dirty="0">
              <a:latin typeface="Alegreya Sans" panose="00000500000000000000" pitchFamily="2" charset="0"/>
            </a:endParaRPr>
          </a:p>
          <a:p>
            <a:pPr lvl="2"/>
            <a:r>
              <a:rPr lang="sl-SI" sz="1900" dirty="0" err="1">
                <a:latin typeface="Alegreya Sans" panose="00000500000000000000" pitchFamily="2" charset="0"/>
              </a:rPr>
              <a:t>Chi-square</a:t>
            </a:r>
            <a:r>
              <a:rPr lang="sl-SI" sz="1900" dirty="0">
                <a:latin typeface="Alegreya Sans" panose="00000500000000000000" pitchFamily="2" charset="0"/>
              </a:rPr>
              <a:t> test: </a:t>
            </a:r>
            <a:r>
              <a:rPr lang="sl-SI" sz="1900" b="1" dirty="0">
                <a:latin typeface="Alegreya Sans" panose="00000500000000000000" pitchFamily="2" charset="0"/>
              </a:rPr>
              <a:t>p = 1.25e−17</a:t>
            </a:r>
            <a:r>
              <a:rPr lang="sl-SI" sz="1900" dirty="0">
                <a:latin typeface="Alegreya Sans" panose="00000500000000000000" pitchFamily="2" charset="0"/>
              </a:rPr>
              <a:t> → </a:t>
            </a:r>
            <a:r>
              <a:rPr lang="sl-SI" sz="1900" b="1" dirty="0" err="1">
                <a:latin typeface="Alegreya Sans" panose="00000500000000000000" pitchFamily="2" charset="0"/>
              </a:rPr>
              <a:t>statistically</a:t>
            </a:r>
            <a:r>
              <a:rPr lang="sl-SI" sz="1900" b="1" dirty="0">
                <a:latin typeface="Alegreya Sans" panose="00000500000000000000" pitchFamily="2" charset="0"/>
              </a:rPr>
              <a:t> </a:t>
            </a:r>
            <a:r>
              <a:rPr lang="sl-SI" sz="1900" b="1" dirty="0" err="1">
                <a:latin typeface="Alegreya Sans" panose="00000500000000000000" pitchFamily="2" charset="0"/>
              </a:rPr>
              <a:t>significant</a:t>
            </a:r>
            <a:r>
              <a:rPr lang="sl-SI" sz="1900" b="1" dirty="0">
                <a:latin typeface="Alegreya Sans" panose="00000500000000000000" pitchFamily="2" charset="0"/>
              </a:rPr>
              <a:t> </a:t>
            </a:r>
            <a:r>
              <a:rPr lang="sl-SI" sz="1900" b="1" dirty="0" err="1">
                <a:latin typeface="Alegreya Sans" panose="00000500000000000000" pitchFamily="2" charset="0"/>
              </a:rPr>
              <a:t>association</a:t>
            </a:r>
            <a:r>
              <a:rPr lang="sl-SI" sz="1900" b="1" dirty="0">
                <a:latin typeface="Alegreya Sans" panose="00000500000000000000" pitchFamily="2" charset="0"/>
              </a:rPr>
              <a:t>!</a:t>
            </a:r>
            <a:endParaRPr lang="sl-SI" sz="1900" dirty="0">
              <a:latin typeface="Alegreya Sans" panose="00000500000000000000" pitchFamily="2" charset="0"/>
            </a:endParaRPr>
          </a:p>
          <a:p>
            <a:pPr lvl="1"/>
            <a:r>
              <a:rPr lang="sl-SI" sz="1900" dirty="0" err="1">
                <a:latin typeface="Alegreya Sans" panose="00000500000000000000" pitchFamily="2" charset="0"/>
              </a:rPr>
              <a:t>Among</a:t>
            </a:r>
            <a:r>
              <a:rPr lang="sl-SI" sz="1900" dirty="0">
                <a:latin typeface="Alegreya Sans" panose="00000500000000000000" pitchFamily="2" charset="0"/>
              </a:rPr>
              <a:t> </a:t>
            </a:r>
            <a:r>
              <a:rPr lang="sl-SI" sz="1900" dirty="0" err="1">
                <a:latin typeface="Alegreya Sans" panose="00000500000000000000" pitchFamily="2" charset="0"/>
              </a:rPr>
              <a:t>all</a:t>
            </a:r>
            <a:r>
              <a:rPr lang="sl-SI" sz="1900" dirty="0">
                <a:latin typeface="Alegreya Sans" panose="00000500000000000000" pitchFamily="2" charset="0"/>
              </a:rPr>
              <a:t> </a:t>
            </a:r>
            <a:r>
              <a:rPr lang="sl-SI" sz="1900" dirty="0" err="1">
                <a:latin typeface="Alegreya Sans" panose="00000500000000000000" pitchFamily="2" charset="0"/>
              </a:rPr>
              <a:t>cp</a:t>
            </a:r>
            <a:r>
              <a:rPr lang="sl-SI" sz="1900" dirty="0">
                <a:latin typeface="Alegreya Sans" panose="00000500000000000000" pitchFamily="2" charset="0"/>
              </a:rPr>
              <a:t> </a:t>
            </a:r>
            <a:r>
              <a:rPr lang="sl-SI" sz="1900" dirty="0" err="1">
                <a:latin typeface="Alegreya Sans" panose="00000500000000000000" pitchFamily="2" charset="0"/>
              </a:rPr>
              <a:t>types</a:t>
            </a:r>
            <a:r>
              <a:rPr lang="sl-SI" sz="1900" dirty="0">
                <a:latin typeface="Alegreya Sans" panose="00000500000000000000" pitchFamily="2" charset="0"/>
              </a:rPr>
              <a:t>, </a:t>
            </a:r>
            <a:r>
              <a:rPr lang="sl-SI" sz="1900" b="1" dirty="0">
                <a:latin typeface="Alegreya Sans" panose="00000500000000000000" pitchFamily="2" charset="0"/>
              </a:rPr>
              <a:t>a</a:t>
            </a:r>
            <a:r>
              <a:rPr lang="en-US" sz="1900" b="1" dirty="0">
                <a:latin typeface="Alegreya Sans" panose="00000500000000000000" pitchFamily="2" charset="0"/>
              </a:rPr>
              <a:t>symptomatic</a:t>
            </a:r>
            <a:r>
              <a:rPr lang="en-US" sz="1900" dirty="0">
                <a:latin typeface="Alegreya Sans" panose="00000500000000000000" pitchFamily="2" charset="0"/>
              </a:rPr>
              <a:t> patients show the highest heart disease count: </a:t>
            </a:r>
            <a:r>
              <a:rPr lang="en-US" sz="1900" b="1" dirty="0">
                <a:latin typeface="Alegreya Sans" panose="00000500000000000000" pitchFamily="2" charset="0"/>
              </a:rPr>
              <a:t>105 presence vs 39 absence</a:t>
            </a:r>
            <a:r>
              <a:rPr lang="en-US" sz="1900" dirty="0">
                <a:latin typeface="Alegreya Sans" panose="00000500000000000000" pitchFamily="2" charset="0"/>
              </a:rPr>
              <a:t> (105/144 = </a:t>
            </a:r>
            <a:r>
              <a:rPr lang="en-US" sz="1900" b="1" dirty="0">
                <a:latin typeface="Alegreya Sans" panose="00000500000000000000" pitchFamily="2" charset="0"/>
              </a:rPr>
              <a:t>72.9% presence</a:t>
            </a:r>
            <a:r>
              <a:rPr lang="en-US" sz="1900" dirty="0">
                <a:latin typeface="Alegreya Sans" panose="00000500000000000000" pitchFamily="2" charset="0"/>
              </a:rPr>
              <a:t>).</a:t>
            </a:r>
            <a:r>
              <a:rPr lang="sl-SI" sz="1900" dirty="0">
                <a:latin typeface="Alegreya Sans" panose="00000500000000000000" pitchFamily="2" charset="0"/>
              </a:rPr>
              <a:t> </a:t>
            </a:r>
            <a:r>
              <a:rPr lang="en-US" sz="1900" dirty="0">
                <a:latin typeface="Alegreya Sans" panose="00000500000000000000" pitchFamily="2" charset="0"/>
              </a:rPr>
              <a:t>Other pain types skew toward </a:t>
            </a:r>
            <a:r>
              <a:rPr lang="en-US" sz="1900" b="1" dirty="0">
                <a:latin typeface="Alegreya Sans" panose="00000500000000000000" pitchFamily="2" charset="0"/>
              </a:rPr>
              <a:t>absence</a:t>
            </a:r>
            <a:r>
              <a:rPr lang="en-US" sz="1900" dirty="0">
                <a:latin typeface="Alegreya Sans" panose="00000500000000000000" pitchFamily="2" charset="0"/>
              </a:rPr>
              <a:t> (e.g., atypical angina: </a:t>
            </a:r>
            <a:r>
              <a:rPr lang="en-US" sz="1900" b="1" dirty="0">
                <a:latin typeface="Alegreya Sans" panose="00000500000000000000" pitchFamily="2" charset="0"/>
              </a:rPr>
              <a:t>9/50 = 18% presence</a:t>
            </a:r>
            <a:r>
              <a:rPr lang="en-US" sz="1900" dirty="0">
                <a:latin typeface="Alegreya Sans" panose="00000500000000000000" pitchFamily="2" charset="0"/>
              </a:rPr>
              <a:t>).</a:t>
            </a:r>
            <a:endParaRPr lang="sl-SI" sz="1900" dirty="0">
              <a:latin typeface="Alegreya Sans" panose="00000500000000000000" pitchFamily="2" charset="0"/>
            </a:endParaRPr>
          </a:p>
          <a:p>
            <a:r>
              <a:rPr lang="sl-SI" sz="1900" dirty="0" err="1">
                <a:latin typeface="Alegreya Sans" panose="00000500000000000000" pitchFamily="2" charset="0"/>
              </a:rPr>
              <a:t>Conclusion</a:t>
            </a:r>
            <a:r>
              <a:rPr lang="sl-SI" sz="1900" dirty="0">
                <a:latin typeface="Alegreya Sans" panose="00000500000000000000" pitchFamily="2" charset="0"/>
              </a:rPr>
              <a:t>: </a:t>
            </a:r>
            <a:r>
              <a:rPr lang="en-US" sz="1900" dirty="0">
                <a:latin typeface="Alegreya Sans" panose="00000500000000000000" pitchFamily="2" charset="0"/>
              </a:rPr>
              <a:t>Chest pain type is </a:t>
            </a:r>
            <a:r>
              <a:rPr lang="en-US" sz="1900" b="1" dirty="0">
                <a:latin typeface="Alegreya Sans" panose="00000500000000000000" pitchFamily="2" charset="0"/>
              </a:rPr>
              <a:t>strongly associated</a:t>
            </a:r>
            <a:r>
              <a:rPr lang="en-US" sz="1900" dirty="0">
                <a:latin typeface="Alegreya Sans" panose="00000500000000000000" pitchFamily="2" charset="0"/>
              </a:rPr>
              <a:t> with heart disease diagnosis; in this sample, </a:t>
            </a:r>
            <a:r>
              <a:rPr lang="en-US" sz="1900" b="1" dirty="0">
                <a:latin typeface="Alegreya Sans" panose="00000500000000000000" pitchFamily="2" charset="0"/>
              </a:rPr>
              <a:t>asymptomatic</a:t>
            </a:r>
            <a:r>
              <a:rPr lang="en-US" sz="1900" dirty="0">
                <a:latin typeface="Alegreya Sans" panose="00000500000000000000" pitchFamily="2" charset="0"/>
              </a:rPr>
              <a:t> patients are much more likely to be diagnosed with heart disease.</a:t>
            </a:r>
            <a:endParaRPr lang="sl-SI" sz="1900" dirty="0">
              <a:latin typeface="Alegreya Sans" panose="00000500000000000000" pitchFamily="2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3E34168-C938-2904-E8FF-BAFC60E79E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78792"/>
            <a:ext cx="5181600" cy="384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811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F7E81E-892F-0DDB-8399-D10066E43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2400" b="1" dirty="0" err="1">
                <a:latin typeface="Alegreya Sans" panose="00000500000000000000" pitchFamily="2" charset="0"/>
              </a:rPr>
              <a:t>Symptom</a:t>
            </a:r>
            <a:r>
              <a:rPr lang="sl-SI" sz="2400" b="1" dirty="0">
                <a:latin typeface="Alegreya Sans" panose="00000500000000000000" pitchFamily="2" charset="0"/>
              </a:rPr>
              <a:t> + </a:t>
            </a:r>
            <a:r>
              <a:rPr lang="sl-SI" sz="2400" b="1" dirty="0" err="1">
                <a:latin typeface="Alegreya Sans" panose="00000500000000000000" pitchFamily="2" charset="0"/>
              </a:rPr>
              <a:t>exercise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</a:rPr>
              <a:t>signals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– </a:t>
            </a:r>
            <a:r>
              <a:rPr lang="en-US" sz="2400" b="1" dirty="0"/>
              <a:t>exercise-induced angina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vs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heart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disease</a:t>
            </a:r>
            <a:endParaRPr lang="sl-SI" sz="2400" b="1" dirty="0">
              <a:latin typeface="Alegreya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805BC-7F60-C257-C38E-28CD4089F3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825625"/>
            <a:ext cx="5593080" cy="4351338"/>
          </a:xfrm>
        </p:spPr>
        <p:txBody>
          <a:bodyPr>
            <a:normAutofit/>
          </a:bodyPr>
          <a:lstStyle/>
          <a:p>
            <a:r>
              <a:rPr lang="sl-SI" sz="1800" dirty="0" err="1">
                <a:latin typeface="Alegreya Sans" panose="00000500000000000000" pitchFamily="2" charset="0"/>
              </a:rPr>
              <a:t>Question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Is </a:t>
            </a:r>
            <a:r>
              <a:rPr lang="en-US" sz="1800" b="1" dirty="0">
                <a:latin typeface="Alegreya Sans" panose="00000500000000000000" pitchFamily="2" charset="0"/>
              </a:rPr>
              <a:t>exercise-induced angina </a:t>
            </a:r>
            <a:r>
              <a:rPr lang="en-US" sz="1800" dirty="0">
                <a:latin typeface="Alegreya Sans" panose="00000500000000000000" pitchFamily="2" charset="0"/>
              </a:rPr>
              <a:t>(</a:t>
            </a:r>
            <a:r>
              <a:rPr lang="en-US" sz="1800" dirty="0" err="1">
                <a:latin typeface="Alegreya Sans" panose="00000500000000000000" pitchFamily="2" charset="0"/>
              </a:rPr>
              <a:t>exang</a:t>
            </a:r>
            <a:r>
              <a:rPr lang="en-US" sz="1800" dirty="0">
                <a:latin typeface="Alegreya Sans" panose="00000500000000000000" pitchFamily="2" charset="0"/>
              </a:rPr>
              <a:t>) associated with whether a patient will ultimately be diagnosed with </a:t>
            </a:r>
            <a:r>
              <a:rPr lang="en-US" sz="1800" b="1" dirty="0">
                <a:latin typeface="Alegreya Sans" panose="00000500000000000000" pitchFamily="2" charset="0"/>
              </a:rPr>
              <a:t>heart disease</a:t>
            </a:r>
            <a:r>
              <a:rPr lang="en-US" sz="1800" dirty="0">
                <a:latin typeface="Alegreya Sans" panose="00000500000000000000" pitchFamily="2" charset="0"/>
              </a:rPr>
              <a:t>?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Results</a:t>
            </a:r>
            <a:r>
              <a:rPr lang="sl-SI" sz="1800" dirty="0">
                <a:latin typeface="Alegreya Sans" panose="00000500000000000000" pitchFamily="2" charset="0"/>
              </a:rPr>
              <a:t> (</a:t>
            </a:r>
            <a:r>
              <a:rPr lang="en-US" sz="1800" dirty="0">
                <a:latin typeface="Alegreya Sans" panose="00000500000000000000" pitchFamily="2" charset="0"/>
              </a:rPr>
              <a:t>2×2 contingency table + χ² test</a:t>
            </a:r>
            <a:r>
              <a:rPr lang="sl-SI" sz="1800" dirty="0">
                <a:latin typeface="Alegreya Sans" panose="00000500000000000000" pitchFamily="2" charset="0"/>
              </a:rPr>
              <a:t>):</a:t>
            </a:r>
          </a:p>
          <a:p>
            <a:pPr lvl="1"/>
            <a:r>
              <a:rPr lang="sl-SI" sz="1800" b="1" dirty="0"/>
              <a:t>No </a:t>
            </a:r>
            <a:r>
              <a:rPr lang="sl-SI" sz="1800" b="1" dirty="0" err="1"/>
              <a:t>exercise-induced</a:t>
            </a:r>
            <a:r>
              <a:rPr lang="sl-SI" sz="1800" b="1" dirty="0"/>
              <a:t> angina </a:t>
            </a:r>
            <a:r>
              <a:rPr lang="sl-SI" sz="1200" dirty="0">
                <a:latin typeface="Alegreya Sans" panose="00000500000000000000" pitchFamily="2" charset="0"/>
              </a:rPr>
              <a:t>(e</a:t>
            </a:r>
            <a:r>
              <a:rPr lang="en-US" sz="1200" dirty="0" err="1">
                <a:latin typeface="Alegreya Sans" panose="00000500000000000000" pitchFamily="2" charset="0"/>
              </a:rPr>
              <a:t>xang</a:t>
            </a:r>
            <a:r>
              <a:rPr lang="en-US" sz="1200" dirty="0">
                <a:latin typeface="Alegreya Sans" panose="00000500000000000000" pitchFamily="2" charset="0"/>
              </a:rPr>
              <a:t> = </a:t>
            </a:r>
            <a:r>
              <a:rPr lang="sl-SI" sz="1200" dirty="0">
                <a:latin typeface="Alegreya Sans" panose="00000500000000000000" pitchFamily="2" charset="0"/>
              </a:rPr>
              <a:t>0</a:t>
            </a:r>
            <a:r>
              <a:rPr lang="en-US" sz="1200" dirty="0">
                <a:latin typeface="Alegreya Sans" panose="00000500000000000000" pitchFamily="2" charset="0"/>
              </a:rPr>
              <a:t>)</a:t>
            </a:r>
            <a:r>
              <a:rPr lang="en-US" sz="1800" dirty="0">
                <a:latin typeface="Alegreya Sans" panose="00000500000000000000" pitchFamily="2" charset="0"/>
              </a:rPr>
              <a:t>: </a:t>
            </a:r>
            <a:r>
              <a:rPr lang="en-US" sz="1800" b="1" dirty="0">
                <a:latin typeface="Alegreya Sans" panose="00000500000000000000" pitchFamily="2" charset="0"/>
              </a:rPr>
              <a:t>30.9%</a:t>
            </a:r>
            <a:r>
              <a:rPr lang="en-US" sz="1800" dirty="0">
                <a:latin typeface="Alegreya Sans" panose="00000500000000000000" pitchFamily="2" charset="0"/>
              </a:rPr>
              <a:t> (</a:t>
            </a:r>
            <a:r>
              <a:rPr lang="en-US" sz="1800" b="1" dirty="0">
                <a:latin typeface="Alegreya Sans" panose="00000500000000000000" pitchFamily="2" charset="0"/>
              </a:rPr>
              <a:t>63/204</a:t>
            </a:r>
            <a:r>
              <a:rPr lang="en-US" sz="1800" dirty="0">
                <a:latin typeface="Alegreya Sans" panose="00000500000000000000" pitchFamily="2" charset="0"/>
              </a:rPr>
              <a:t>)</a:t>
            </a:r>
            <a:r>
              <a:rPr lang="sl-SI" sz="1800" dirty="0">
                <a:latin typeface="Alegreya Sans" panose="00000500000000000000" pitchFamily="2" charset="0"/>
              </a:rPr>
              <a:t> </a:t>
            </a:r>
            <a:r>
              <a:rPr lang="en-US" sz="1800" dirty="0">
                <a:latin typeface="Alegreya Sans" panose="00000500000000000000" pitchFamily="2" charset="0"/>
              </a:rPr>
              <a:t>diagnosed with heart disease </a:t>
            </a:r>
            <a:endParaRPr lang="sl-SI" sz="1800" dirty="0">
              <a:latin typeface="Alegreya Sans" panose="00000500000000000000" pitchFamily="2" charset="0"/>
            </a:endParaRPr>
          </a:p>
          <a:p>
            <a:pPr lvl="1"/>
            <a:r>
              <a:rPr lang="sl-SI" sz="1800" b="1" dirty="0" err="1"/>
              <a:t>Exercise-induced</a:t>
            </a:r>
            <a:r>
              <a:rPr lang="sl-SI" sz="1800" b="1" dirty="0"/>
              <a:t> angina </a:t>
            </a:r>
            <a:r>
              <a:rPr lang="sl-SI" sz="1800" b="1" dirty="0" err="1"/>
              <a:t>present</a:t>
            </a:r>
            <a:r>
              <a:rPr lang="sl-SI" sz="1800" b="1" dirty="0"/>
              <a:t> </a:t>
            </a:r>
            <a:r>
              <a:rPr lang="sl-SI" sz="1200" dirty="0">
                <a:latin typeface="Alegreya Sans" panose="00000500000000000000" pitchFamily="2" charset="0"/>
              </a:rPr>
              <a:t>(e</a:t>
            </a:r>
            <a:r>
              <a:rPr lang="en-US" sz="1200" dirty="0" err="1">
                <a:latin typeface="Alegreya Sans" panose="00000500000000000000" pitchFamily="2" charset="0"/>
              </a:rPr>
              <a:t>xang</a:t>
            </a:r>
            <a:r>
              <a:rPr lang="en-US" sz="1200" dirty="0">
                <a:latin typeface="Alegreya Sans" panose="00000500000000000000" pitchFamily="2" charset="0"/>
              </a:rPr>
              <a:t> = 1)</a:t>
            </a:r>
            <a:r>
              <a:rPr lang="en-US" sz="1800" dirty="0">
                <a:latin typeface="Alegreya Sans" panose="00000500000000000000" pitchFamily="2" charset="0"/>
              </a:rPr>
              <a:t>: </a:t>
            </a:r>
            <a:r>
              <a:rPr lang="en-US" sz="1800" b="1" dirty="0">
                <a:latin typeface="Alegreya Sans" panose="00000500000000000000" pitchFamily="2" charset="0"/>
              </a:rPr>
              <a:t>76.8%</a:t>
            </a:r>
            <a:r>
              <a:rPr lang="en-US" sz="1800" dirty="0">
                <a:latin typeface="Alegreya Sans" panose="00000500000000000000" pitchFamily="2" charset="0"/>
              </a:rPr>
              <a:t> (</a:t>
            </a:r>
            <a:r>
              <a:rPr lang="en-US" sz="1800" b="1" dirty="0">
                <a:latin typeface="Alegreya Sans" panose="00000500000000000000" pitchFamily="2" charset="0"/>
              </a:rPr>
              <a:t>76/99</a:t>
            </a:r>
            <a:r>
              <a:rPr lang="en-US" sz="1800" dirty="0">
                <a:latin typeface="Alegreya Sans" panose="00000500000000000000" pitchFamily="2" charset="0"/>
              </a:rPr>
              <a:t>)</a:t>
            </a:r>
            <a:r>
              <a:rPr lang="sl-SI" sz="1800" dirty="0">
                <a:latin typeface="Alegreya Sans" panose="00000500000000000000" pitchFamily="2" charset="0"/>
              </a:rPr>
              <a:t> </a:t>
            </a:r>
            <a:r>
              <a:rPr lang="en-US" sz="1800" dirty="0">
                <a:latin typeface="Alegreya Sans" panose="00000500000000000000" pitchFamily="2" charset="0"/>
              </a:rPr>
              <a:t>diagnosed with heart disease </a:t>
            </a:r>
            <a:endParaRPr lang="sl-SI" sz="1800" dirty="0">
              <a:latin typeface="Alegreya Sans" panose="00000500000000000000" pitchFamily="2" charset="0"/>
            </a:endParaRPr>
          </a:p>
          <a:p>
            <a:pPr lvl="1"/>
            <a:r>
              <a:rPr lang="en-US" sz="1800" dirty="0">
                <a:latin typeface="Alegreya Sans" panose="00000500000000000000" pitchFamily="2" charset="0"/>
              </a:rPr>
              <a:t>Chi-square test of independence: </a:t>
            </a:r>
            <a:r>
              <a:rPr lang="en-US" sz="1800" b="1" dirty="0">
                <a:latin typeface="Alegreya Sans" panose="00000500000000000000" pitchFamily="2" charset="0"/>
              </a:rPr>
              <a:t>p = 1.41e−13</a:t>
            </a:r>
            <a:r>
              <a:rPr lang="en-US" sz="1800" dirty="0">
                <a:latin typeface="Alegreya Sans" panose="00000500000000000000" pitchFamily="2" charset="0"/>
              </a:rPr>
              <a:t> → </a:t>
            </a:r>
            <a:r>
              <a:rPr lang="en-US" sz="1800" b="1" dirty="0">
                <a:latin typeface="Alegreya Sans" panose="00000500000000000000" pitchFamily="2" charset="0"/>
              </a:rPr>
              <a:t>significant association</a:t>
            </a:r>
            <a:endParaRPr lang="sl-SI" sz="1800" b="1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Conclusion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b="1" dirty="0">
                <a:latin typeface="Alegreya Sans" panose="00000500000000000000" pitchFamily="2" charset="0"/>
              </a:rPr>
              <a:t>Exercise-induced angina </a:t>
            </a:r>
            <a:r>
              <a:rPr lang="en-US" sz="1800" dirty="0">
                <a:latin typeface="Alegreya Sans" panose="00000500000000000000" pitchFamily="2" charset="0"/>
              </a:rPr>
              <a:t>is a </a:t>
            </a:r>
            <a:r>
              <a:rPr lang="en-US" sz="1800" b="1" dirty="0">
                <a:latin typeface="Alegreya Sans" panose="00000500000000000000" pitchFamily="2" charset="0"/>
              </a:rPr>
              <a:t>strong indicator</a:t>
            </a:r>
            <a:r>
              <a:rPr lang="en-US" sz="1800" dirty="0">
                <a:latin typeface="Alegreya Sans" panose="00000500000000000000" pitchFamily="2" charset="0"/>
              </a:rPr>
              <a:t> in this sample: patients </a:t>
            </a:r>
            <a:r>
              <a:rPr lang="sl-SI" sz="1800" dirty="0" err="1">
                <a:latin typeface="Alegreya Sans" panose="00000500000000000000" pitchFamily="2" charset="0"/>
              </a:rPr>
              <a:t>experiencing</a:t>
            </a:r>
            <a:r>
              <a:rPr lang="sl-SI" sz="1800" dirty="0">
                <a:latin typeface="Alegreya Sans" panose="00000500000000000000" pitchFamily="2" charset="0"/>
              </a:rPr>
              <a:t> e</a:t>
            </a:r>
            <a:r>
              <a:rPr lang="en-US" sz="1800" dirty="0" err="1">
                <a:latin typeface="Alegreya Sans" panose="00000500000000000000" pitchFamily="2" charset="0"/>
              </a:rPr>
              <a:t>xercise</a:t>
            </a:r>
            <a:r>
              <a:rPr lang="en-US" sz="1800" dirty="0">
                <a:latin typeface="Alegreya Sans" panose="00000500000000000000" pitchFamily="2" charset="0"/>
              </a:rPr>
              <a:t>-induced angina</a:t>
            </a:r>
            <a:r>
              <a:rPr lang="sl-SI" sz="1800" dirty="0">
                <a:latin typeface="Alegreya Sans" panose="00000500000000000000" pitchFamily="2" charset="0"/>
              </a:rPr>
              <a:t> (</a:t>
            </a:r>
            <a:r>
              <a:rPr lang="en-US" sz="1800" dirty="0" err="1">
                <a:latin typeface="Alegreya Sans" panose="00000500000000000000" pitchFamily="2" charset="0"/>
              </a:rPr>
              <a:t>exang</a:t>
            </a:r>
            <a:r>
              <a:rPr lang="en-US" sz="1800" dirty="0">
                <a:latin typeface="Alegreya Sans" panose="00000500000000000000" pitchFamily="2" charset="0"/>
              </a:rPr>
              <a:t>=1</a:t>
            </a:r>
            <a:r>
              <a:rPr lang="sl-SI" sz="1800" dirty="0">
                <a:latin typeface="Alegreya Sans" panose="00000500000000000000" pitchFamily="2" charset="0"/>
              </a:rPr>
              <a:t>)</a:t>
            </a:r>
            <a:r>
              <a:rPr lang="en-US" sz="1800" dirty="0">
                <a:latin typeface="Alegreya Sans" panose="00000500000000000000" pitchFamily="2" charset="0"/>
              </a:rPr>
              <a:t> are </a:t>
            </a:r>
            <a:r>
              <a:rPr lang="en-US" sz="1800" b="1" dirty="0">
                <a:latin typeface="Alegreya Sans" panose="00000500000000000000" pitchFamily="2" charset="0"/>
              </a:rPr>
              <a:t>much more likely</a:t>
            </a:r>
            <a:r>
              <a:rPr lang="en-US" sz="1800" dirty="0">
                <a:latin typeface="Alegreya Sans" panose="00000500000000000000" pitchFamily="2" charset="0"/>
              </a:rPr>
              <a:t> to have heart disease.</a:t>
            </a:r>
            <a:endParaRPr lang="sl-SI" sz="1800" dirty="0">
              <a:latin typeface="Alegreya Sans" panose="00000500000000000000" pitchFamily="2" charset="0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25D5A02-82F2-8D0E-D95C-8007D3583B0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97379"/>
            <a:ext cx="5181600" cy="380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570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56F8CCF-D8F8-B75C-31D3-566C74CD0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Symptom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+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exercise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signals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>
                <a:latin typeface="Alegreya Sans" panose="00000500000000000000" pitchFamily="2" charset="0"/>
              </a:rPr>
              <a:t>–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en-US" sz="2400" b="1" dirty="0">
                <a:latin typeface="Alegreya Sans" panose="00000500000000000000" pitchFamily="2" charset="0"/>
              </a:rPr>
              <a:t>maximum exercise heart rate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vs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heart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disease</a:t>
            </a:r>
            <a:endParaRPr lang="sl-SI" sz="2400" b="1" dirty="0">
              <a:latin typeface="Alegreya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EC6C5B-AB60-A461-3F36-577A875F93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sl-SI" sz="1800" dirty="0" err="1">
                <a:latin typeface="Alegreya Sans" panose="00000500000000000000" pitchFamily="2" charset="0"/>
              </a:rPr>
              <a:t>Question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Is </a:t>
            </a:r>
            <a:r>
              <a:rPr lang="en-US" sz="1800" b="1" dirty="0">
                <a:latin typeface="Alegreya Sans" panose="00000500000000000000" pitchFamily="2" charset="0"/>
              </a:rPr>
              <a:t>maximum exercise heart rate</a:t>
            </a:r>
            <a:r>
              <a:rPr lang="sl-SI" sz="1800" b="1" dirty="0">
                <a:latin typeface="Alegreya Sans" panose="00000500000000000000" pitchFamily="2" charset="0"/>
              </a:rPr>
              <a:t> </a:t>
            </a:r>
            <a:r>
              <a:rPr lang="sl-SI" sz="1800" dirty="0">
                <a:latin typeface="Alegreya Sans" panose="00000500000000000000" pitchFamily="2" charset="0"/>
              </a:rPr>
              <a:t>(</a:t>
            </a:r>
            <a:r>
              <a:rPr lang="en-US" sz="1800" dirty="0" err="1">
                <a:latin typeface="Alegreya Sans" panose="00000500000000000000" pitchFamily="2" charset="0"/>
              </a:rPr>
              <a:t>thalach</a:t>
            </a:r>
            <a:r>
              <a:rPr lang="sl-SI" sz="1800" dirty="0">
                <a:latin typeface="Alegreya Sans" panose="00000500000000000000" pitchFamily="2" charset="0"/>
              </a:rPr>
              <a:t>)</a:t>
            </a:r>
            <a:r>
              <a:rPr lang="en-US" sz="1800" dirty="0">
                <a:latin typeface="Alegreya Sans" panose="00000500000000000000" pitchFamily="2" charset="0"/>
              </a:rPr>
              <a:t> associated with whether or not a patient will ultimately be diagnosed with </a:t>
            </a:r>
            <a:r>
              <a:rPr lang="en-US" sz="1800" b="1" dirty="0">
                <a:latin typeface="Alegreya Sans" panose="00000500000000000000" pitchFamily="2" charset="0"/>
              </a:rPr>
              <a:t>heart disease</a:t>
            </a:r>
            <a:r>
              <a:rPr lang="en-US" sz="1800" dirty="0">
                <a:latin typeface="Alegreya Sans" panose="00000500000000000000" pitchFamily="2" charset="0"/>
              </a:rPr>
              <a:t>?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Results</a:t>
            </a:r>
            <a:r>
              <a:rPr lang="sl-SI" sz="1800" dirty="0">
                <a:latin typeface="Alegreya Sans" panose="00000500000000000000" pitchFamily="2" charset="0"/>
              </a:rPr>
              <a:t>:</a:t>
            </a:r>
          </a:p>
          <a:p>
            <a:pPr lvl="1"/>
            <a:r>
              <a:rPr lang="en-US" sz="1800" dirty="0">
                <a:latin typeface="Alegreya Sans" panose="00000500000000000000" pitchFamily="2" charset="0"/>
              </a:rPr>
              <a:t>Patients with heart disease reached a </a:t>
            </a:r>
            <a:r>
              <a:rPr lang="en-US" sz="1800" b="1" dirty="0">
                <a:latin typeface="Alegreya Sans" panose="00000500000000000000" pitchFamily="2" charset="0"/>
              </a:rPr>
              <a:t>lower</a:t>
            </a:r>
            <a:r>
              <a:rPr lang="en-US" sz="1800" dirty="0">
                <a:latin typeface="Alegreya Sans" panose="00000500000000000000" pitchFamily="2" charset="0"/>
              </a:rPr>
              <a:t> max heart rate</a:t>
            </a:r>
            <a:r>
              <a:rPr lang="sl-SI" sz="1800" dirty="0">
                <a:latin typeface="Alegreya Sans" panose="00000500000000000000" pitchFamily="2" charset="0"/>
              </a:rPr>
              <a:t>, </a:t>
            </a:r>
            <a:r>
              <a:rPr lang="en-US" sz="1800" b="1" dirty="0">
                <a:latin typeface="Alegreya Sans" panose="00000500000000000000" pitchFamily="2" charset="0"/>
              </a:rPr>
              <a:t>~19 bpm lower </a:t>
            </a:r>
            <a:r>
              <a:rPr lang="en-US" sz="1800" dirty="0">
                <a:latin typeface="Alegreya Sans" panose="00000500000000000000" pitchFamily="2" charset="0"/>
              </a:rPr>
              <a:t>on average</a:t>
            </a:r>
            <a:r>
              <a:rPr lang="sl-SI" sz="1800" dirty="0">
                <a:latin typeface="Alegreya Sans" panose="00000500000000000000" pitchFamily="2" charset="0"/>
              </a:rPr>
              <a:t> </a:t>
            </a:r>
            <a:r>
              <a:rPr lang="en-US" sz="1800" dirty="0">
                <a:latin typeface="Alegreya Sans" panose="00000500000000000000" pitchFamily="2" charset="0"/>
              </a:rPr>
              <a:t>: </a:t>
            </a:r>
            <a:endParaRPr lang="sl-SI" sz="1800" dirty="0">
              <a:latin typeface="Alegreya Sans" panose="00000500000000000000" pitchFamily="2" charset="0"/>
            </a:endParaRPr>
          </a:p>
          <a:p>
            <a:pPr lvl="2"/>
            <a:r>
              <a:rPr lang="en-US" sz="1800" dirty="0">
                <a:latin typeface="Alegreya Sans" panose="00000500000000000000" pitchFamily="2" charset="0"/>
              </a:rPr>
              <a:t>Mean difference: </a:t>
            </a:r>
            <a:r>
              <a:rPr lang="en-US" sz="1800" b="1" dirty="0">
                <a:latin typeface="Alegreya Sans" panose="00000500000000000000" pitchFamily="2" charset="0"/>
              </a:rPr>
              <a:t>−19.12 bpm</a:t>
            </a:r>
            <a:r>
              <a:rPr lang="en-US" sz="1800" dirty="0">
                <a:latin typeface="Alegreya Sans" panose="00000500000000000000" pitchFamily="2" charset="0"/>
              </a:rPr>
              <a:t>; median difference: </a:t>
            </a:r>
            <a:r>
              <a:rPr lang="en-US" sz="1800" b="1" dirty="0">
                <a:latin typeface="Alegreya Sans" panose="00000500000000000000" pitchFamily="2" charset="0"/>
              </a:rPr>
              <a:t>−19.0 bpm </a:t>
            </a:r>
            <a:endParaRPr lang="sl-SI" sz="1800" b="1" dirty="0">
              <a:latin typeface="Alegreya Sans" panose="00000500000000000000" pitchFamily="2" charset="0"/>
            </a:endParaRPr>
          </a:p>
          <a:p>
            <a:pPr lvl="2"/>
            <a:r>
              <a:rPr lang="en-US" sz="1800" dirty="0">
                <a:latin typeface="Alegreya Sans" panose="00000500000000000000" pitchFamily="2" charset="0"/>
              </a:rPr>
              <a:t>Two-sample t-test: </a:t>
            </a:r>
            <a:r>
              <a:rPr lang="en-US" sz="1800" b="1" dirty="0">
                <a:latin typeface="Alegreya Sans" panose="00000500000000000000" pitchFamily="2" charset="0"/>
              </a:rPr>
              <a:t>p = 3.46e−14</a:t>
            </a:r>
            <a:r>
              <a:rPr lang="en-US" sz="1800" dirty="0">
                <a:latin typeface="Alegreya Sans" panose="00000500000000000000" pitchFamily="2" charset="0"/>
              </a:rPr>
              <a:t> → </a:t>
            </a:r>
            <a:r>
              <a:rPr lang="en-US" sz="1800" b="1" dirty="0">
                <a:latin typeface="Alegreya Sans" panose="00000500000000000000" pitchFamily="2" charset="0"/>
              </a:rPr>
              <a:t>statistically significant</a:t>
            </a:r>
            <a:r>
              <a:rPr lang="sl-SI" sz="1800" b="1" dirty="0">
                <a:latin typeface="Alegreya Sans" panose="00000500000000000000" pitchFamily="2" charset="0"/>
              </a:rPr>
              <a:t>!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Conclusion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Patients diagnosed with heart disease achieve a </a:t>
            </a:r>
            <a:r>
              <a:rPr lang="en-US" sz="1800" b="1" dirty="0">
                <a:latin typeface="Alegreya Sans" panose="00000500000000000000" pitchFamily="2" charset="0"/>
              </a:rPr>
              <a:t>substantially lower </a:t>
            </a:r>
            <a:r>
              <a:rPr lang="en-US" sz="1800" dirty="0">
                <a:latin typeface="Alegreya Sans" panose="00000500000000000000" pitchFamily="2" charset="0"/>
              </a:rPr>
              <a:t>maximum heart rate during the exercise test (</a:t>
            </a:r>
            <a:r>
              <a:rPr lang="en-US" sz="1800" b="1" dirty="0">
                <a:latin typeface="Alegreya Sans" panose="00000500000000000000" pitchFamily="2" charset="0"/>
              </a:rPr>
              <a:t>≈ 19 bpm lower</a:t>
            </a:r>
            <a:r>
              <a:rPr lang="en-US" sz="1800" dirty="0">
                <a:latin typeface="Alegreya Sans" panose="00000500000000000000" pitchFamily="2" charset="0"/>
              </a:rPr>
              <a:t>)</a:t>
            </a:r>
            <a:r>
              <a:rPr lang="sl-SI" sz="1800" dirty="0">
                <a:latin typeface="Alegreya Sans" panose="00000500000000000000" pitchFamily="2" charset="0"/>
              </a:rPr>
              <a:t>.</a:t>
            </a:r>
          </a:p>
          <a:p>
            <a:endParaRPr lang="sl-SI" sz="1800" dirty="0">
              <a:latin typeface="Alegreya Sans" panose="00000500000000000000" pitchFamily="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6FDAA9-8739-FC01-4CD0-4EA9D6E738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24259" y="2081738"/>
            <a:ext cx="4877481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989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78AD58C-293A-B57D-9CA9-FAC85CAA0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</a:rPr>
              <a:t>Symptom</a:t>
            </a:r>
            <a:r>
              <a:rPr lang="sl-SI" sz="2400" b="1" dirty="0">
                <a:latin typeface="Alegreya Sans" panose="00000500000000000000" pitchFamily="2" charset="0"/>
              </a:rPr>
              <a:t> + </a:t>
            </a:r>
            <a:r>
              <a:rPr lang="sl-SI" sz="2400" b="1" dirty="0" err="1">
                <a:latin typeface="Alegreya Sans" panose="00000500000000000000" pitchFamily="2" charset="0"/>
              </a:rPr>
              <a:t>exercise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</a:rPr>
              <a:t>signals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– </a:t>
            </a:r>
            <a:r>
              <a:rPr lang="en-US" sz="2400" b="1" dirty="0">
                <a:latin typeface="Alegreya Sans" panose="00000500000000000000" pitchFamily="2" charset="0"/>
              </a:rPr>
              <a:t>maximum exercise heart rate</a:t>
            </a:r>
            <a:r>
              <a:rPr lang="en-US" sz="2400" b="1" dirty="0">
                <a:latin typeface="Alegreya Sans" panose="00000500000000000000" pitchFamily="2" charset="0"/>
                <a:ea typeface="+mn-ea"/>
                <a:cs typeface="+mn-cs"/>
              </a:rPr>
              <a:t> by chest pain type</a:t>
            </a:r>
            <a:endParaRPr lang="sl-SI" sz="2400" b="1" dirty="0">
              <a:latin typeface="Alegreya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60C603-90D2-9F67-6246-F789BE078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0896" y="1825625"/>
            <a:ext cx="6181344" cy="4351338"/>
          </a:xfrm>
        </p:spPr>
        <p:txBody>
          <a:bodyPr>
            <a:noAutofit/>
          </a:bodyPr>
          <a:lstStyle/>
          <a:p>
            <a:r>
              <a:rPr lang="sl-SI" sz="1400" dirty="0" err="1">
                <a:latin typeface="Alegreya Sans" panose="00000500000000000000" pitchFamily="2" charset="0"/>
              </a:rPr>
              <a:t>Question</a:t>
            </a:r>
            <a:r>
              <a:rPr lang="sl-SI" sz="1400" dirty="0">
                <a:latin typeface="Alegreya Sans" panose="00000500000000000000" pitchFamily="2" charset="0"/>
              </a:rPr>
              <a:t>: a) </a:t>
            </a:r>
            <a:r>
              <a:rPr lang="en-US" sz="1400" dirty="0">
                <a:latin typeface="Alegreya Sans" panose="00000500000000000000" pitchFamily="2" charset="0"/>
              </a:rPr>
              <a:t>Do patients </a:t>
            </a:r>
            <a:r>
              <a:rPr lang="en-US" sz="1400" b="1" dirty="0">
                <a:latin typeface="Alegreya Sans" panose="00000500000000000000" pitchFamily="2" charset="0"/>
              </a:rPr>
              <a:t>with different chest pain </a:t>
            </a:r>
            <a:r>
              <a:rPr lang="en-US" sz="1400" dirty="0">
                <a:latin typeface="Alegreya Sans" panose="00000500000000000000" pitchFamily="2" charset="0"/>
              </a:rPr>
              <a:t>have the </a:t>
            </a:r>
            <a:r>
              <a:rPr lang="en-US" sz="1400" b="1" dirty="0">
                <a:latin typeface="Alegreya Sans" panose="00000500000000000000" pitchFamily="2" charset="0"/>
              </a:rPr>
              <a:t>same average maximum exercise heart rate </a:t>
            </a:r>
            <a:r>
              <a:rPr lang="en-US" sz="1400" dirty="0">
                <a:latin typeface="Alegreya Sans" panose="00000500000000000000" pitchFamily="2" charset="0"/>
              </a:rPr>
              <a:t>(</a:t>
            </a:r>
            <a:r>
              <a:rPr lang="en-US" sz="1400" dirty="0" err="1">
                <a:latin typeface="Alegreya Sans" panose="00000500000000000000" pitchFamily="2" charset="0"/>
              </a:rPr>
              <a:t>thalach</a:t>
            </a:r>
            <a:r>
              <a:rPr lang="en-US" sz="1400" dirty="0">
                <a:latin typeface="Alegreya Sans" panose="00000500000000000000" pitchFamily="2" charset="0"/>
              </a:rPr>
              <a:t>), or does </a:t>
            </a:r>
            <a:r>
              <a:rPr lang="en-US" sz="1400" b="1" dirty="0">
                <a:latin typeface="Alegreya Sans" panose="00000500000000000000" pitchFamily="2" charset="0"/>
              </a:rPr>
              <a:t>at least one</a:t>
            </a:r>
            <a:r>
              <a:rPr lang="en-US" sz="1400" dirty="0">
                <a:latin typeface="Alegreya Sans" panose="00000500000000000000" pitchFamily="2" charset="0"/>
              </a:rPr>
              <a:t> chest pain group have a different average </a:t>
            </a:r>
            <a:r>
              <a:rPr lang="en-US" sz="1400" dirty="0" err="1">
                <a:latin typeface="Alegreya Sans" panose="00000500000000000000" pitchFamily="2" charset="0"/>
              </a:rPr>
              <a:t>thalach</a:t>
            </a:r>
            <a:r>
              <a:rPr lang="en-US" sz="1400" dirty="0">
                <a:latin typeface="Alegreya Sans" panose="00000500000000000000" pitchFamily="2" charset="0"/>
              </a:rPr>
              <a:t>?</a:t>
            </a:r>
            <a:r>
              <a:rPr lang="sl-SI" sz="1400" dirty="0">
                <a:latin typeface="Alegreya Sans" panose="00000500000000000000" pitchFamily="2" charset="0"/>
              </a:rPr>
              <a:t> b) </a:t>
            </a:r>
            <a:r>
              <a:rPr lang="sl-SI" sz="1400" b="1" dirty="0" err="1">
                <a:latin typeface="Alegreya Sans" panose="00000500000000000000" pitchFamily="2" charset="0"/>
              </a:rPr>
              <a:t>If</a:t>
            </a:r>
            <a:r>
              <a:rPr lang="sl-SI" sz="1400" b="1" dirty="0">
                <a:latin typeface="Alegreya Sans" panose="00000500000000000000" pitchFamily="2" charset="0"/>
              </a:rPr>
              <a:t> so, </a:t>
            </a:r>
            <a:r>
              <a:rPr lang="en-US" sz="1400" b="1" dirty="0">
                <a:latin typeface="Alegreya Sans" panose="00000500000000000000" pitchFamily="2" charset="0"/>
              </a:rPr>
              <a:t>which of those pairs are significantly different</a:t>
            </a:r>
            <a:r>
              <a:rPr lang="sl-SI" sz="1400" b="1" dirty="0">
                <a:latin typeface="Alegreya Sans" panose="00000500000000000000" pitchFamily="2" charset="0"/>
              </a:rPr>
              <a:t>?</a:t>
            </a:r>
          </a:p>
          <a:p>
            <a:r>
              <a:rPr lang="sl-SI" sz="1400" dirty="0" err="1">
                <a:latin typeface="Alegreya Sans" panose="00000500000000000000" pitchFamily="2" charset="0"/>
              </a:rPr>
              <a:t>Results</a:t>
            </a:r>
            <a:r>
              <a:rPr lang="sl-SI" sz="1400" dirty="0">
                <a:latin typeface="Alegreya Sans" panose="00000500000000000000" pitchFamily="2" charset="0"/>
              </a:rPr>
              <a:t> a) (4-group </a:t>
            </a:r>
            <a:r>
              <a:rPr lang="sl-SI" sz="1400" dirty="0" err="1">
                <a:latin typeface="Alegreya Sans" panose="00000500000000000000" pitchFamily="2" charset="0"/>
              </a:rPr>
              <a:t>comparison</a:t>
            </a:r>
            <a:r>
              <a:rPr lang="sl-SI" sz="1400" dirty="0">
                <a:latin typeface="Alegreya Sans" panose="00000500000000000000" pitchFamily="2" charset="0"/>
              </a:rPr>
              <a:t>):</a:t>
            </a:r>
          </a:p>
          <a:p>
            <a:pPr lvl="1"/>
            <a:r>
              <a:rPr lang="sl-SI" sz="1400" dirty="0" err="1">
                <a:latin typeface="Alegreya Sans" panose="00000500000000000000" pitchFamily="2" charset="0"/>
              </a:rPr>
              <a:t>Side-by-side</a:t>
            </a:r>
            <a:r>
              <a:rPr lang="sl-SI" sz="1400" dirty="0">
                <a:latin typeface="Alegreya Sans" panose="00000500000000000000" pitchFamily="2" charset="0"/>
              </a:rPr>
              <a:t>- </a:t>
            </a:r>
            <a:r>
              <a:rPr lang="sl-SI" sz="1400" dirty="0" err="1">
                <a:latin typeface="Alegreya Sans" panose="00000500000000000000" pitchFamily="2" charset="0"/>
              </a:rPr>
              <a:t>boxplots</a:t>
            </a:r>
            <a:r>
              <a:rPr lang="sl-SI" sz="1400" dirty="0">
                <a:latin typeface="Alegreya Sans" panose="00000500000000000000" pitchFamily="2" charset="0"/>
              </a:rPr>
              <a:t> </a:t>
            </a:r>
            <a:r>
              <a:rPr lang="en-US" sz="1400" dirty="0">
                <a:latin typeface="Alegreya Sans" panose="00000500000000000000" pitchFamily="2" charset="0"/>
              </a:rPr>
              <a:t>show </a:t>
            </a:r>
            <a:r>
              <a:rPr lang="en-US" sz="1400" b="1" dirty="0">
                <a:latin typeface="Alegreya Sans" panose="00000500000000000000" pitchFamily="2" charset="0"/>
              </a:rPr>
              <a:t>clear differences in typical </a:t>
            </a:r>
            <a:r>
              <a:rPr lang="en-US" sz="1400" b="1" dirty="0" err="1">
                <a:latin typeface="Alegreya Sans" panose="00000500000000000000" pitchFamily="2" charset="0"/>
              </a:rPr>
              <a:t>thalach</a:t>
            </a:r>
            <a:r>
              <a:rPr lang="en-US" sz="1400" b="1" dirty="0">
                <a:latin typeface="Alegreya Sans" panose="00000500000000000000" pitchFamily="2" charset="0"/>
              </a:rPr>
              <a:t> across cp categories </a:t>
            </a:r>
            <a:r>
              <a:rPr lang="en-US" sz="1400" dirty="0">
                <a:latin typeface="Alegreya Sans" panose="00000500000000000000" pitchFamily="2" charset="0"/>
              </a:rPr>
              <a:t>(asymptomatic appears lowest).</a:t>
            </a:r>
            <a:endParaRPr lang="sl-SI" sz="1400" dirty="0">
              <a:latin typeface="Alegreya Sans" panose="00000500000000000000" pitchFamily="2" charset="0"/>
            </a:endParaRPr>
          </a:p>
          <a:p>
            <a:pPr lvl="2"/>
            <a:r>
              <a:rPr lang="en-US" sz="1400" dirty="0">
                <a:latin typeface="Alegreya Sans" panose="00000500000000000000" pitchFamily="2" charset="0"/>
              </a:rPr>
              <a:t>One-way ANOVA: </a:t>
            </a:r>
            <a:r>
              <a:rPr lang="en-US" sz="1400" b="1" dirty="0">
                <a:latin typeface="Alegreya Sans" panose="00000500000000000000" pitchFamily="2" charset="0"/>
              </a:rPr>
              <a:t>p = 1.91e−10</a:t>
            </a:r>
            <a:r>
              <a:rPr lang="en-US" sz="1400" dirty="0">
                <a:latin typeface="Alegreya Sans" panose="00000500000000000000" pitchFamily="2" charset="0"/>
              </a:rPr>
              <a:t> </a:t>
            </a:r>
            <a:r>
              <a:rPr lang="en-US" sz="1400" b="1" dirty="0">
                <a:latin typeface="Alegreya Sans" panose="00000500000000000000" pitchFamily="2" charset="0"/>
              </a:rPr>
              <a:t>→ at least one pair of chest pain types</a:t>
            </a:r>
            <a:r>
              <a:rPr lang="sl-SI" sz="1400" b="1" dirty="0">
                <a:latin typeface="Alegreya Sans" panose="00000500000000000000" pitchFamily="2" charset="0"/>
              </a:rPr>
              <a:t> </a:t>
            </a:r>
            <a:r>
              <a:rPr lang="en-US" sz="1400" b="1" dirty="0">
                <a:latin typeface="Alegreya Sans" panose="00000500000000000000" pitchFamily="2" charset="0"/>
              </a:rPr>
              <a:t>has a different mean </a:t>
            </a:r>
            <a:r>
              <a:rPr lang="en-US" sz="1400" b="1" dirty="0" err="1">
                <a:latin typeface="Alegreya Sans" panose="00000500000000000000" pitchFamily="2" charset="0"/>
              </a:rPr>
              <a:t>thalach</a:t>
            </a:r>
            <a:r>
              <a:rPr lang="en-US" sz="1400" b="1" dirty="0">
                <a:latin typeface="Alegreya Sans" panose="00000500000000000000" pitchFamily="2" charset="0"/>
              </a:rPr>
              <a:t>.</a:t>
            </a:r>
            <a:endParaRPr lang="sl-SI" sz="1400" b="1" dirty="0">
              <a:latin typeface="Alegreya Sans" panose="00000500000000000000" pitchFamily="2" charset="0"/>
            </a:endParaRPr>
          </a:p>
          <a:p>
            <a:r>
              <a:rPr lang="sl-SI" sz="1400" dirty="0" err="1">
                <a:latin typeface="Alegreya Sans" panose="00000500000000000000" pitchFamily="2" charset="0"/>
              </a:rPr>
              <a:t>Results</a:t>
            </a:r>
            <a:r>
              <a:rPr lang="sl-SI" sz="1400" dirty="0">
                <a:latin typeface="Alegreya Sans" panose="00000500000000000000" pitchFamily="2" charset="0"/>
              </a:rPr>
              <a:t> b) (</a:t>
            </a:r>
            <a:r>
              <a:rPr lang="sl-SI" sz="1400" dirty="0" err="1">
                <a:latin typeface="Alegreya Sans" panose="00000500000000000000" pitchFamily="2" charset="0"/>
              </a:rPr>
              <a:t>Tukey</a:t>
            </a:r>
            <a:r>
              <a:rPr lang="sl-SI" sz="1400" dirty="0">
                <a:latin typeface="Alegreya Sans" panose="00000500000000000000" pitchFamily="2" charset="0"/>
              </a:rPr>
              <a:t> HSD, FWER=0.05):</a:t>
            </a:r>
          </a:p>
          <a:p>
            <a:pPr lvl="1"/>
            <a:r>
              <a:rPr lang="sl-SI" sz="1400" b="1" dirty="0" err="1">
                <a:latin typeface="Alegreya Sans" panose="00000500000000000000" pitchFamily="2" charset="0"/>
              </a:rPr>
              <a:t>Asymptomatic</a:t>
            </a:r>
            <a:r>
              <a:rPr lang="sl-SI" sz="1400" b="1" dirty="0">
                <a:latin typeface="Alegreya Sans" panose="00000500000000000000" pitchFamily="2" charset="0"/>
              </a:rPr>
              <a:t> </a:t>
            </a:r>
            <a:r>
              <a:rPr lang="sl-SI" sz="1400" dirty="0" err="1">
                <a:latin typeface="Alegreya Sans" panose="00000500000000000000" pitchFamily="2" charset="0"/>
              </a:rPr>
              <a:t>vs</a:t>
            </a:r>
            <a:r>
              <a:rPr lang="sl-SI" sz="1400" dirty="0">
                <a:latin typeface="Alegreya Sans" panose="00000500000000000000" pitchFamily="2" charset="0"/>
              </a:rPr>
              <a:t> </a:t>
            </a:r>
            <a:r>
              <a:rPr lang="sl-SI" sz="1400" dirty="0" err="1">
                <a:latin typeface="Alegreya Sans" panose="00000500000000000000" pitchFamily="2" charset="0"/>
              </a:rPr>
              <a:t>atypical</a:t>
            </a:r>
            <a:r>
              <a:rPr lang="sl-SI" sz="1400" dirty="0">
                <a:latin typeface="Alegreya Sans" panose="00000500000000000000" pitchFamily="2" charset="0"/>
              </a:rPr>
              <a:t> angina: </a:t>
            </a:r>
            <a:r>
              <a:rPr lang="sl-SI" sz="1400" b="1" dirty="0">
                <a:latin typeface="Alegreya Sans" panose="00000500000000000000" pitchFamily="2" charset="0"/>
              </a:rPr>
              <a:t>+21.74 </a:t>
            </a:r>
            <a:r>
              <a:rPr lang="sl-SI" sz="1400" b="1" dirty="0" err="1">
                <a:latin typeface="Alegreya Sans" panose="00000500000000000000" pitchFamily="2" charset="0"/>
              </a:rPr>
              <a:t>bpm</a:t>
            </a:r>
            <a:r>
              <a:rPr lang="sl-SI" sz="1400" b="1" dirty="0">
                <a:latin typeface="Alegreya Sans" panose="00000500000000000000" pitchFamily="2" charset="0"/>
              </a:rPr>
              <a:t> (p-</a:t>
            </a:r>
            <a:r>
              <a:rPr lang="sl-SI" sz="1400" b="1" dirty="0" err="1">
                <a:latin typeface="Alegreya Sans" panose="00000500000000000000" pitchFamily="2" charset="0"/>
              </a:rPr>
              <a:t>adj</a:t>
            </a:r>
            <a:r>
              <a:rPr lang="sl-SI" sz="1400" b="1" dirty="0">
                <a:latin typeface="Alegreya Sans" panose="00000500000000000000" pitchFamily="2" charset="0"/>
              </a:rPr>
              <a:t> &lt; 0.001) → </a:t>
            </a:r>
            <a:r>
              <a:rPr lang="sl-SI" sz="1400" b="1" dirty="0" err="1">
                <a:latin typeface="Alegreya Sans" panose="00000500000000000000" pitchFamily="2" charset="0"/>
              </a:rPr>
              <a:t>significant</a:t>
            </a:r>
            <a:endParaRPr lang="sl-SI" sz="1400" b="1" dirty="0">
              <a:latin typeface="Alegreya Sans" panose="00000500000000000000" pitchFamily="2" charset="0"/>
            </a:endParaRPr>
          </a:p>
          <a:p>
            <a:pPr lvl="1"/>
            <a:r>
              <a:rPr lang="sl-SI" sz="1400" b="1" dirty="0" err="1">
                <a:latin typeface="Alegreya Sans" panose="00000500000000000000" pitchFamily="2" charset="0"/>
              </a:rPr>
              <a:t>Asymptomatic</a:t>
            </a:r>
            <a:r>
              <a:rPr lang="sl-SI" sz="1400" b="1" dirty="0">
                <a:latin typeface="Alegreya Sans" panose="00000500000000000000" pitchFamily="2" charset="0"/>
              </a:rPr>
              <a:t> </a:t>
            </a:r>
            <a:r>
              <a:rPr lang="sl-SI" sz="1400" dirty="0" err="1">
                <a:latin typeface="Alegreya Sans" panose="00000500000000000000" pitchFamily="2" charset="0"/>
              </a:rPr>
              <a:t>vs</a:t>
            </a:r>
            <a:r>
              <a:rPr lang="sl-SI" sz="1400" dirty="0">
                <a:latin typeface="Alegreya Sans" panose="00000500000000000000" pitchFamily="2" charset="0"/>
              </a:rPr>
              <a:t> non-</a:t>
            </a:r>
            <a:r>
              <a:rPr lang="sl-SI" sz="1400" dirty="0" err="1">
                <a:latin typeface="Alegreya Sans" panose="00000500000000000000" pitchFamily="2" charset="0"/>
              </a:rPr>
              <a:t>anginal</a:t>
            </a:r>
            <a:r>
              <a:rPr lang="sl-SI" sz="1400" dirty="0">
                <a:latin typeface="Alegreya Sans" panose="00000500000000000000" pitchFamily="2" charset="0"/>
              </a:rPr>
              <a:t> </a:t>
            </a:r>
            <a:r>
              <a:rPr lang="sl-SI" sz="1400" dirty="0" err="1">
                <a:latin typeface="Alegreya Sans" panose="00000500000000000000" pitchFamily="2" charset="0"/>
              </a:rPr>
              <a:t>pain</a:t>
            </a:r>
            <a:r>
              <a:rPr lang="sl-SI" sz="1400" dirty="0">
                <a:latin typeface="Alegreya Sans" panose="00000500000000000000" pitchFamily="2" charset="0"/>
              </a:rPr>
              <a:t>: </a:t>
            </a:r>
            <a:r>
              <a:rPr lang="sl-SI" sz="1400" b="1" dirty="0">
                <a:latin typeface="Alegreya Sans" panose="00000500000000000000" pitchFamily="2" charset="0"/>
              </a:rPr>
              <a:t>+14.73 </a:t>
            </a:r>
            <a:r>
              <a:rPr lang="sl-SI" sz="1400" b="1" dirty="0" err="1">
                <a:latin typeface="Alegreya Sans" panose="00000500000000000000" pitchFamily="2" charset="0"/>
              </a:rPr>
              <a:t>bpm</a:t>
            </a:r>
            <a:r>
              <a:rPr lang="sl-SI" sz="1400" b="1" dirty="0">
                <a:latin typeface="Alegreya Sans" panose="00000500000000000000" pitchFamily="2" charset="0"/>
              </a:rPr>
              <a:t> (p-</a:t>
            </a:r>
            <a:r>
              <a:rPr lang="sl-SI" sz="1400" b="1" dirty="0" err="1">
                <a:latin typeface="Alegreya Sans" panose="00000500000000000000" pitchFamily="2" charset="0"/>
              </a:rPr>
              <a:t>adj</a:t>
            </a:r>
            <a:r>
              <a:rPr lang="sl-SI" sz="1400" b="1" dirty="0">
                <a:latin typeface="Alegreya Sans" panose="00000500000000000000" pitchFamily="2" charset="0"/>
              </a:rPr>
              <a:t> &lt; 0.001) → </a:t>
            </a:r>
            <a:r>
              <a:rPr lang="sl-SI" sz="1400" b="1" dirty="0" err="1">
                <a:latin typeface="Alegreya Sans" panose="00000500000000000000" pitchFamily="2" charset="0"/>
              </a:rPr>
              <a:t>significant</a:t>
            </a:r>
            <a:endParaRPr lang="sl-SI" sz="1400" b="1" dirty="0">
              <a:latin typeface="Alegreya Sans" panose="00000500000000000000" pitchFamily="2" charset="0"/>
            </a:endParaRPr>
          </a:p>
          <a:p>
            <a:pPr lvl="1"/>
            <a:r>
              <a:rPr lang="sl-SI" sz="1400" b="1" dirty="0" err="1">
                <a:latin typeface="Alegreya Sans" panose="00000500000000000000" pitchFamily="2" charset="0"/>
              </a:rPr>
              <a:t>Asymptomatic</a:t>
            </a:r>
            <a:r>
              <a:rPr lang="sl-SI" sz="1400" b="1" dirty="0">
                <a:latin typeface="Alegreya Sans" panose="00000500000000000000" pitchFamily="2" charset="0"/>
              </a:rPr>
              <a:t> </a:t>
            </a:r>
            <a:r>
              <a:rPr lang="sl-SI" sz="1400" dirty="0" err="1">
                <a:latin typeface="Alegreya Sans" panose="00000500000000000000" pitchFamily="2" charset="0"/>
              </a:rPr>
              <a:t>vs</a:t>
            </a:r>
            <a:r>
              <a:rPr lang="sl-SI" sz="1400" dirty="0">
                <a:latin typeface="Alegreya Sans" panose="00000500000000000000" pitchFamily="2" charset="0"/>
              </a:rPr>
              <a:t> </a:t>
            </a:r>
            <a:r>
              <a:rPr lang="sl-SI" sz="1400" dirty="0" err="1">
                <a:latin typeface="Alegreya Sans" panose="00000500000000000000" pitchFamily="2" charset="0"/>
              </a:rPr>
              <a:t>typical</a:t>
            </a:r>
            <a:r>
              <a:rPr lang="sl-SI" sz="1400" dirty="0">
                <a:latin typeface="Alegreya Sans" panose="00000500000000000000" pitchFamily="2" charset="0"/>
              </a:rPr>
              <a:t> angina: </a:t>
            </a:r>
            <a:r>
              <a:rPr lang="sl-SI" sz="1400" b="1" dirty="0">
                <a:latin typeface="Alegreya Sans" panose="00000500000000000000" pitchFamily="2" charset="0"/>
              </a:rPr>
              <a:t>+15.28 </a:t>
            </a:r>
            <a:r>
              <a:rPr lang="sl-SI" sz="1400" b="1" dirty="0" err="1">
                <a:latin typeface="Alegreya Sans" panose="00000500000000000000" pitchFamily="2" charset="0"/>
              </a:rPr>
              <a:t>bpm</a:t>
            </a:r>
            <a:r>
              <a:rPr lang="sl-SI" sz="1400" dirty="0">
                <a:latin typeface="Alegreya Sans" panose="00000500000000000000" pitchFamily="2" charset="0"/>
              </a:rPr>
              <a:t> </a:t>
            </a:r>
            <a:r>
              <a:rPr lang="sl-SI" sz="1400" b="1" dirty="0">
                <a:latin typeface="Alegreya Sans" panose="00000500000000000000" pitchFamily="2" charset="0"/>
              </a:rPr>
              <a:t>(p-</a:t>
            </a:r>
            <a:r>
              <a:rPr lang="sl-SI" sz="1400" b="1" dirty="0" err="1">
                <a:latin typeface="Alegreya Sans" panose="00000500000000000000" pitchFamily="2" charset="0"/>
              </a:rPr>
              <a:t>adj</a:t>
            </a:r>
            <a:r>
              <a:rPr lang="sl-SI" sz="1400" b="1" dirty="0">
                <a:latin typeface="Alegreya Sans" panose="00000500000000000000" pitchFamily="2" charset="0"/>
              </a:rPr>
              <a:t> = 0.0081) → </a:t>
            </a:r>
            <a:r>
              <a:rPr lang="sl-SI" sz="1400" b="1" dirty="0" err="1">
                <a:latin typeface="Alegreya Sans" panose="00000500000000000000" pitchFamily="2" charset="0"/>
              </a:rPr>
              <a:t>significant</a:t>
            </a:r>
            <a:endParaRPr lang="sl-SI" sz="1400" b="1" dirty="0">
              <a:latin typeface="Alegreya Sans" panose="00000500000000000000" pitchFamily="2" charset="0"/>
            </a:endParaRPr>
          </a:p>
          <a:p>
            <a:pPr lvl="1"/>
            <a:r>
              <a:rPr lang="sl-SI" sz="1400" dirty="0">
                <a:latin typeface="Alegreya Sans" panose="00000500000000000000" pitchFamily="2" charset="0"/>
              </a:rPr>
              <a:t>A</a:t>
            </a:r>
            <a:r>
              <a:rPr lang="en-US" sz="1400" dirty="0" err="1">
                <a:latin typeface="Alegreya Sans" panose="00000500000000000000" pitchFamily="2" charset="0"/>
              </a:rPr>
              <a:t>ll</a:t>
            </a:r>
            <a:r>
              <a:rPr lang="en-US" sz="1400" dirty="0">
                <a:latin typeface="Alegreya Sans" panose="00000500000000000000" pitchFamily="2" charset="0"/>
              </a:rPr>
              <a:t> other pairwise comparisons: </a:t>
            </a:r>
            <a:r>
              <a:rPr lang="en-US" sz="1400" b="1" dirty="0">
                <a:latin typeface="Alegreya Sans" panose="00000500000000000000" pitchFamily="2" charset="0"/>
              </a:rPr>
              <a:t>not significant</a:t>
            </a:r>
            <a:r>
              <a:rPr lang="en-US" sz="1400" dirty="0">
                <a:latin typeface="Alegreya Sans" panose="00000500000000000000" pitchFamily="2" charset="0"/>
              </a:rPr>
              <a:t> (p-adj ≥ 0.248)</a:t>
            </a:r>
            <a:endParaRPr lang="sl-SI" sz="1400" b="1" dirty="0">
              <a:latin typeface="Alegreya Sans" panose="00000500000000000000" pitchFamily="2" charset="0"/>
            </a:endParaRPr>
          </a:p>
          <a:p>
            <a:r>
              <a:rPr lang="sl-SI" sz="1400" dirty="0" err="1">
                <a:latin typeface="Alegreya Sans" panose="00000500000000000000" pitchFamily="2" charset="0"/>
              </a:rPr>
              <a:t>Conclusion</a:t>
            </a:r>
            <a:r>
              <a:rPr lang="sl-SI" sz="1400" dirty="0">
                <a:latin typeface="Alegreya Sans" panose="00000500000000000000" pitchFamily="2" charset="0"/>
              </a:rPr>
              <a:t>: a) </a:t>
            </a:r>
            <a:r>
              <a:rPr lang="en-US" sz="1400" dirty="0">
                <a:latin typeface="Alegreya Sans" panose="00000500000000000000" pitchFamily="2" charset="0"/>
              </a:rPr>
              <a:t>People with typical angina, non-anginal pain, atypical angina, and asymptomatic people </a:t>
            </a:r>
            <a:r>
              <a:rPr lang="en-US" sz="1400" b="1" dirty="0">
                <a:latin typeface="Alegreya Sans" panose="00000500000000000000" pitchFamily="2" charset="0"/>
              </a:rPr>
              <a:t>do not all have the same average </a:t>
            </a:r>
            <a:r>
              <a:rPr lang="en-US" sz="1400" b="1" dirty="0" err="1">
                <a:latin typeface="Alegreya Sans" panose="00000500000000000000" pitchFamily="2" charset="0"/>
              </a:rPr>
              <a:t>thalach</a:t>
            </a:r>
            <a:r>
              <a:rPr lang="en-US" sz="1400" dirty="0">
                <a:latin typeface="Alegreya Sans" panose="00000500000000000000" pitchFamily="2" charset="0"/>
              </a:rPr>
              <a:t>.</a:t>
            </a:r>
            <a:r>
              <a:rPr lang="sl-SI" sz="1400" dirty="0">
                <a:latin typeface="Alegreya Sans" panose="00000500000000000000" pitchFamily="2" charset="0"/>
              </a:rPr>
              <a:t> b) </a:t>
            </a:r>
            <a:r>
              <a:rPr lang="en-US" sz="1400" dirty="0">
                <a:latin typeface="Alegreya Sans" panose="00000500000000000000" pitchFamily="2" charset="0"/>
              </a:rPr>
              <a:t>The overall difference is driven by the </a:t>
            </a:r>
            <a:r>
              <a:rPr lang="en-US" sz="1400" b="1" dirty="0">
                <a:latin typeface="Alegreya Sans" panose="00000500000000000000" pitchFamily="2" charset="0"/>
              </a:rPr>
              <a:t>asymptomatic group</a:t>
            </a:r>
            <a:r>
              <a:rPr lang="en-US" sz="1400" dirty="0">
                <a:latin typeface="Alegreya Sans" panose="00000500000000000000" pitchFamily="2" charset="0"/>
              </a:rPr>
              <a:t>, which has a </a:t>
            </a:r>
            <a:r>
              <a:rPr lang="en-US" sz="1400" b="1" dirty="0">
                <a:latin typeface="Alegreya Sans" panose="00000500000000000000" pitchFamily="2" charset="0"/>
              </a:rPr>
              <a:t>significantly lower</a:t>
            </a:r>
            <a:r>
              <a:rPr lang="en-US" sz="1400" dirty="0">
                <a:latin typeface="Alegreya Sans" panose="00000500000000000000" pitchFamily="2" charset="0"/>
              </a:rPr>
              <a:t> </a:t>
            </a:r>
            <a:r>
              <a:rPr lang="en-US" sz="1400" b="1" dirty="0">
                <a:latin typeface="Alegreya Sans" panose="00000500000000000000" pitchFamily="2" charset="0"/>
              </a:rPr>
              <a:t>mean </a:t>
            </a:r>
            <a:r>
              <a:rPr lang="en-US" sz="1400" b="1" dirty="0" err="1">
                <a:latin typeface="Alegreya Sans" panose="00000500000000000000" pitchFamily="2" charset="0"/>
              </a:rPr>
              <a:t>thalach</a:t>
            </a:r>
            <a:r>
              <a:rPr lang="en-US" sz="1400" b="1" dirty="0">
                <a:latin typeface="Alegreya Sans" panose="00000500000000000000" pitchFamily="2" charset="0"/>
              </a:rPr>
              <a:t> </a:t>
            </a:r>
            <a:r>
              <a:rPr lang="en-US" sz="1400" dirty="0">
                <a:latin typeface="Alegreya Sans" panose="00000500000000000000" pitchFamily="2" charset="0"/>
              </a:rPr>
              <a:t>than each of the other chest pain types; the other three types have </a:t>
            </a:r>
            <a:r>
              <a:rPr lang="en-US" sz="1400" b="1" dirty="0">
                <a:latin typeface="Alegreya Sans" panose="00000500000000000000" pitchFamily="2" charset="0"/>
              </a:rPr>
              <a:t>similar</a:t>
            </a:r>
            <a:r>
              <a:rPr lang="en-US" sz="1400" dirty="0">
                <a:latin typeface="Alegreya Sans" panose="00000500000000000000" pitchFamily="2" charset="0"/>
              </a:rPr>
              <a:t> average </a:t>
            </a:r>
            <a:r>
              <a:rPr lang="en-US" sz="1400" dirty="0" err="1">
                <a:latin typeface="Alegreya Sans" panose="00000500000000000000" pitchFamily="2" charset="0"/>
              </a:rPr>
              <a:t>thalach</a:t>
            </a:r>
            <a:r>
              <a:rPr lang="en-US" sz="1400" dirty="0">
                <a:latin typeface="Alegreya Sans" panose="00000500000000000000" pitchFamily="2" charset="0"/>
              </a:rPr>
              <a:t>.</a:t>
            </a:r>
            <a:endParaRPr lang="sl-SI" sz="1400" dirty="0">
              <a:latin typeface="Alegreya Sans" panose="00000500000000000000" pitchFamily="2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7FA71A4-B4EA-F384-C11B-FABA310AFCB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00444" y="1929317"/>
            <a:ext cx="4925112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200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4F3F8E-75C5-359C-7AA9-1A32E64A3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2400" b="1" dirty="0">
                <a:latin typeface="Alegreya Sans" panose="00000500000000000000" pitchFamily="2" charset="0"/>
              </a:rPr>
              <a:t>D</a:t>
            </a:r>
            <a:r>
              <a:rPr lang="en-US" sz="2400" b="1" dirty="0" err="1">
                <a:latin typeface="Alegreya Sans" panose="00000500000000000000" pitchFamily="2" charset="0"/>
              </a:rPr>
              <a:t>emographics</a:t>
            </a:r>
            <a:r>
              <a:rPr lang="en-US" sz="2400" b="1" dirty="0">
                <a:latin typeface="Alegreya Sans" panose="00000500000000000000" pitchFamily="2" charset="0"/>
              </a:rPr>
              <a:t>/vitals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– age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vs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heart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disease</a:t>
            </a:r>
            <a:endParaRPr lang="sl-SI" sz="2400" b="1" dirty="0">
              <a:latin typeface="Alegreya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0A986C-E019-A5CB-40CA-B638145CCA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sl-SI" sz="1800" dirty="0" err="1">
                <a:latin typeface="Alegreya Sans" panose="00000500000000000000" pitchFamily="2" charset="0"/>
              </a:rPr>
              <a:t>Question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Is </a:t>
            </a:r>
            <a:r>
              <a:rPr lang="sl-SI" sz="1800" b="1" dirty="0">
                <a:latin typeface="Alegreya Sans" panose="00000500000000000000" pitchFamily="2" charset="0"/>
              </a:rPr>
              <a:t>age </a:t>
            </a:r>
            <a:r>
              <a:rPr lang="en-US" sz="1800" dirty="0">
                <a:latin typeface="Alegreya Sans" panose="00000500000000000000" pitchFamily="2" charset="0"/>
              </a:rPr>
              <a:t>associated with whether a patient will ultimately be diagnosed with </a:t>
            </a:r>
            <a:r>
              <a:rPr lang="en-US" sz="1800" b="1" dirty="0">
                <a:latin typeface="Alegreya Sans" panose="00000500000000000000" pitchFamily="2" charset="0"/>
              </a:rPr>
              <a:t>heart disease</a:t>
            </a:r>
            <a:r>
              <a:rPr lang="en-US" sz="1800" dirty="0">
                <a:latin typeface="Alegreya Sans" panose="00000500000000000000" pitchFamily="2" charset="0"/>
              </a:rPr>
              <a:t>?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Results</a:t>
            </a:r>
            <a:r>
              <a:rPr lang="sl-SI" sz="1800" dirty="0">
                <a:latin typeface="Alegreya Sans" panose="00000500000000000000" pitchFamily="2" charset="0"/>
              </a:rPr>
              <a:t> (</a:t>
            </a:r>
            <a:r>
              <a:rPr lang="sl-SI" sz="1800" dirty="0" err="1">
                <a:latin typeface="Alegreya Sans" panose="00000500000000000000" pitchFamily="2" charset="0"/>
              </a:rPr>
              <a:t>group</a:t>
            </a:r>
            <a:r>
              <a:rPr lang="sl-SI" sz="1800" dirty="0">
                <a:latin typeface="Alegreya Sans" panose="00000500000000000000" pitchFamily="2" charset="0"/>
              </a:rPr>
              <a:t> </a:t>
            </a:r>
            <a:r>
              <a:rPr lang="sl-SI" sz="1800" dirty="0" err="1">
                <a:latin typeface="Alegreya Sans" panose="00000500000000000000" pitchFamily="2" charset="0"/>
              </a:rPr>
              <a:t>comparison</a:t>
            </a:r>
            <a:r>
              <a:rPr lang="sl-SI" sz="1800" dirty="0">
                <a:latin typeface="Alegreya Sans" panose="00000500000000000000" pitchFamily="2" charset="0"/>
              </a:rPr>
              <a:t> + </a:t>
            </a:r>
            <a:r>
              <a:rPr lang="sl-SI" sz="1800" dirty="0" err="1">
                <a:latin typeface="Alegreya Sans" panose="00000500000000000000" pitchFamily="2" charset="0"/>
              </a:rPr>
              <a:t>Welch</a:t>
            </a:r>
            <a:r>
              <a:rPr lang="sl-SI" sz="1800" dirty="0">
                <a:latin typeface="Alegreya Sans" panose="00000500000000000000" pitchFamily="2" charset="0"/>
              </a:rPr>
              <a:t> t-test):</a:t>
            </a:r>
          </a:p>
          <a:p>
            <a:pPr lvl="1"/>
            <a:r>
              <a:rPr lang="sl-SI" sz="1800" b="1" dirty="0">
                <a:latin typeface="Alegreya Sans" panose="00000500000000000000" pitchFamily="2" charset="0"/>
              </a:rPr>
              <a:t>W</a:t>
            </a:r>
            <a:r>
              <a:rPr lang="en-US" sz="1800" b="1" dirty="0" err="1">
                <a:latin typeface="Alegreya Sans" panose="00000500000000000000" pitchFamily="2" charset="0"/>
              </a:rPr>
              <a:t>ith</a:t>
            </a:r>
            <a:r>
              <a:rPr lang="en-US" sz="1800" b="1" dirty="0">
                <a:latin typeface="Alegreya Sans" panose="00000500000000000000" pitchFamily="2" charset="0"/>
              </a:rPr>
              <a:t> heart disease (presence):</a:t>
            </a:r>
            <a:r>
              <a:rPr lang="en-US" sz="1800" dirty="0">
                <a:latin typeface="Alegreya Sans" panose="00000500000000000000" pitchFamily="2" charset="0"/>
              </a:rPr>
              <a:t> mean age </a:t>
            </a:r>
            <a:r>
              <a:rPr lang="en-US" sz="1800" b="1" dirty="0">
                <a:latin typeface="Alegreya Sans" panose="00000500000000000000" pitchFamily="2" charset="0"/>
              </a:rPr>
              <a:t>56.6</a:t>
            </a:r>
            <a:r>
              <a:rPr lang="en-US" sz="1800" dirty="0">
                <a:latin typeface="Alegreya Sans" panose="00000500000000000000" pitchFamily="2" charset="0"/>
              </a:rPr>
              <a:t> years (median </a:t>
            </a:r>
            <a:r>
              <a:rPr lang="en-US" sz="1800" b="1" dirty="0">
                <a:latin typeface="Alegreya Sans" panose="00000500000000000000" pitchFamily="2" charset="0"/>
              </a:rPr>
              <a:t>58</a:t>
            </a:r>
            <a:r>
              <a:rPr lang="en-US" sz="1800" dirty="0">
                <a:latin typeface="Alegreya Sans" panose="00000500000000000000" pitchFamily="2" charset="0"/>
              </a:rPr>
              <a:t>)</a:t>
            </a:r>
            <a:endParaRPr lang="sl-SI" sz="1800" dirty="0">
              <a:latin typeface="Alegreya Sans" panose="00000500000000000000" pitchFamily="2" charset="0"/>
            </a:endParaRPr>
          </a:p>
          <a:p>
            <a:pPr lvl="1"/>
            <a:r>
              <a:rPr lang="sl-SI" sz="1800" b="1" dirty="0">
                <a:latin typeface="Alegreya Sans" panose="00000500000000000000" pitchFamily="2" charset="0"/>
              </a:rPr>
              <a:t>W</a:t>
            </a:r>
            <a:r>
              <a:rPr lang="en-US" sz="1800" b="1" dirty="0" err="1">
                <a:latin typeface="Alegreya Sans" panose="00000500000000000000" pitchFamily="2" charset="0"/>
              </a:rPr>
              <a:t>ithout</a:t>
            </a:r>
            <a:r>
              <a:rPr lang="en-US" sz="1800" b="1" dirty="0">
                <a:latin typeface="Alegreya Sans" panose="00000500000000000000" pitchFamily="2" charset="0"/>
              </a:rPr>
              <a:t> heart disease (absence):</a:t>
            </a:r>
            <a:r>
              <a:rPr lang="en-US" sz="1800" dirty="0">
                <a:latin typeface="Alegreya Sans" panose="00000500000000000000" pitchFamily="2" charset="0"/>
              </a:rPr>
              <a:t> mean age </a:t>
            </a:r>
            <a:r>
              <a:rPr lang="en-US" sz="1800" b="1" dirty="0">
                <a:latin typeface="Alegreya Sans" panose="00000500000000000000" pitchFamily="2" charset="0"/>
              </a:rPr>
              <a:t>52.6</a:t>
            </a:r>
            <a:r>
              <a:rPr lang="en-US" sz="1800" dirty="0">
                <a:latin typeface="Alegreya Sans" panose="00000500000000000000" pitchFamily="2" charset="0"/>
              </a:rPr>
              <a:t> years (median </a:t>
            </a:r>
            <a:r>
              <a:rPr lang="en-US" sz="1800" b="1" dirty="0">
                <a:latin typeface="Alegreya Sans" panose="00000500000000000000" pitchFamily="2" charset="0"/>
              </a:rPr>
              <a:t>52</a:t>
            </a:r>
            <a:r>
              <a:rPr lang="en-US" sz="1800" dirty="0">
                <a:latin typeface="Alegreya Sans" panose="00000500000000000000" pitchFamily="2" charset="0"/>
              </a:rPr>
              <a:t>)</a:t>
            </a:r>
            <a:endParaRPr lang="sl-SI" sz="1800" dirty="0">
              <a:latin typeface="Alegreya Sans" panose="00000500000000000000" pitchFamily="2" charset="0"/>
            </a:endParaRPr>
          </a:p>
          <a:p>
            <a:pPr lvl="2"/>
            <a:r>
              <a:rPr lang="en-US" sz="1800" dirty="0">
                <a:latin typeface="Alegreya Sans" panose="00000500000000000000" pitchFamily="2" charset="0"/>
              </a:rPr>
              <a:t>Difference: </a:t>
            </a:r>
            <a:r>
              <a:rPr lang="en-US" sz="1800" b="1" dirty="0">
                <a:latin typeface="Alegreya Sans" panose="00000500000000000000" pitchFamily="2" charset="0"/>
              </a:rPr>
              <a:t>+4.0 years</a:t>
            </a:r>
            <a:r>
              <a:rPr lang="en-US" sz="1800" dirty="0">
                <a:latin typeface="Alegreya Sans" panose="00000500000000000000" pitchFamily="2" charset="0"/>
              </a:rPr>
              <a:t> on average (</a:t>
            </a:r>
            <a:r>
              <a:rPr lang="en-US" sz="1800" b="1" dirty="0">
                <a:latin typeface="Alegreya Sans" panose="00000500000000000000" pitchFamily="2" charset="0"/>
              </a:rPr>
              <a:t>+6</a:t>
            </a:r>
            <a:r>
              <a:rPr lang="en-US" sz="1800" dirty="0">
                <a:latin typeface="Alegreya Sans" panose="00000500000000000000" pitchFamily="2" charset="0"/>
              </a:rPr>
              <a:t> years at the median)</a:t>
            </a:r>
            <a:endParaRPr lang="sl-SI" sz="1800" dirty="0">
              <a:latin typeface="Alegreya Sans" panose="00000500000000000000" pitchFamily="2" charset="0"/>
            </a:endParaRPr>
          </a:p>
          <a:p>
            <a:pPr lvl="1"/>
            <a:r>
              <a:rPr lang="en-US" sz="1800" dirty="0">
                <a:latin typeface="Alegreya Sans" panose="00000500000000000000" pitchFamily="2" charset="0"/>
              </a:rPr>
              <a:t>Welch t-test: </a:t>
            </a:r>
            <a:r>
              <a:rPr lang="en-US" sz="1800" b="1" dirty="0">
                <a:latin typeface="Alegreya Sans" panose="00000500000000000000" pitchFamily="2" charset="0"/>
              </a:rPr>
              <a:t>p = 7.06e−05</a:t>
            </a:r>
            <a:r>
              <a:rPr lang="en-US" sz="1800" dirty="0">
                <a:latin typeface="Alegreya Sans" panose="00000500000000000000" pitchFamily="2" charset="0"/>
              </a:rPr>
              <a:t> → </a:t>
            </a:r>
            <a:r>
              <a:rPr lang="en-US" sz="1800" b="1" dirty="0">
                <a:latin typeface="Alegreya Sans" panose="00000500000000000000" pitchFamily="2" charset="0"/>
              </a:rPr>
              <a:t>statistically significant</a:t>
            </a:r>
            <a:endParaRPr lang="sl-SI" sz="1800" b="1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Conclusion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In this sample, heart disease is significantly</a:t>
            </a:r>
            <a:r>
              <a:rPr lang="en-US" sz="1800" b="1" dirty="0">
                <a:latin typeface="Alegreya Sans" panose="00000500000000000000" pitchFamily="2" charset="0"/>
              </a:rPr>
              <a:t> </a:t>
            </a:r>
            <a:r>
              <a:rPr lang="en-US" sz="1800" dirty="0">
                <a:latin typeface="Alegreya Sans" panose="00000500000000000000" pitchFamily="2" charset="0"/>
              </a:rPr>
              <a:t>associated with </a:t>
            </a:r>
            <a:r>
              <a:rPr lang="en-US" sz="1800" b="1" dirty="0">
                <a:latin typeface="Alegreya Sans" panose="00000500000000000000" pitchFamily="2" charset="0"/>
              </a:rPr>
              <a:t>older age</a:t>
            </a:r>
            <a:r>
              <a:rPr lang="en-US" sz="1800" dirty="0">
                <a:latin typeface="Alegreya Sans" panose="00000500000000000000" pitchFamily="2" charset="0"/>
              </a:rPr>
              <a:t>; the diagnosed group is </a:t>
            </a:r>
            <a:r>
              <a:rPr lang="en-US" sz="1800" b="1" dirty="0">
                <a:latin typeface="Alegreya Sans" panose="00000500000000000000" pitchFamily="2" charset="0"/>
              </a:rPr>
              <a:t>several years older</a:t>
            </a:r>
            <a:r>
              <a:rPr lang="en-US" sz="1800" dirty="0">
                <a:latin typeface="Alegreya Sans" panose="00000500000000000000" pitchFamily="2" charset="0"/>
              </a:rPr>
              <a:t> on average.</a:t>
            </a:r>
            <a:endParaRPr lang="sl-SI" sz="1800" dirty="0">
              <a:latin typeface="Alegreya Sans" panose="00000500000000000000" pitchFamily="2" charset="0"/>
            </a:endParaRPr>
          </a:p>
          <a:p>
            <a:endParaRPr lang="sl-SI" dirty="0">
              <a:latin typeface="Alegreya Sans" panose="00000500000000000000" pitchFamily="2" charset="0"/>
            </a:endParaRPr>
          </a:p>
          <a:p>
            <a:endParaRPr lang="sl-SI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F76819D3-D273-F32E-4D32-E9C13EC54B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76654" y="2105554"/>
            <a:ext cx="4772691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88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7F4CE-5C6D-53C1-7DAC-B81ABB347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0C61BD4-69EA-5FF0-CC6C-4473E55A0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2400" b="1" dirty="0">
                <a:latin typeface="Alegreya Sans" panose="00000500000000000000" pitchFamily="2" charset="0"/>
              </a:rPr>
              <a:t>D</a:t>
            </a:r>
            <a:r>
              <a:rPr lang="en-US" sz="2400" b="1" dirty="0" err="1">
                <a:latin typeface="Alegreya Sans" panose="00000500000000000000" pitchFamily="2" charset="0"/>
              </a:rPr>
              <a:t>emographics</a:t>
            </a:r>
            <a:r>
              <a:rPr lang="en-US" sz="2400" b="1" dirty="0">
                <a:latin typeface="Alegreya Sans" panose="00000500000000000000" pitchFamily="2" charset="0"/>
              </a:rPr>
              <a:t>/vitals</a:t>
            </a:r>
            <a:r>
              <a:rPr lang="sl-SI" sz="2400" b="1" dirty="0">
                <a:latin typeface="Alegreya Sans" panose="00000500000000000000" pitchFamily="2" charset="0"/>
              </a:rPr>
              <a:t> –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en-US" sz="2400" b="1" dirty="0">
                <a:latin typeface="Alegreya Sans" panose="00000500000000000000" pitchFamily="2" charset="0"/>
              </a:rPr>
              <a:t>resting blood </a:t>
            </a:r>
            <a:r>
              <a:rPr lang="en-US" sz="2400" b="1" dirty="0" err="1">
                <a:latin typeface="Alegreya Sans" panose="00000500000000000000" pitchFamily="2" charset="0"/>
              </a:rPr>
              <a:t>pressu</a:t>
            </a:r>
            <a:r>
              <a:rPr lang="sl-SI" sz="2400" b="1" dirty="0">
                <a:latin typeface="Alegreya Sans" panose="00000500000000000000" pitchFamily="2" charset="0"/>
              </a:rPr>
              <a:t>re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vs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heart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disease</a:t>
            </a:r>
            <a:endParaRPr lang="sl-SI" sz="2400" b="1" dirty="0">
              <a:latin typeface="Alegreya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83714B-15A4-3150-FD85-92C46DED38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sl-SI" sz="1800" dirty="0" err="1">
                <a:latin typeface="Alegreya Sans" panose="00000500000000000000" pitchFamily="2" charset="0"/>
              </a:rPr>
              <a:t>Question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Is  </a:t>
            </a:r>
            <a:r>
              <a:rPr lang="en-US" sz="1800" b="1" dirty="0">
                <a:latin typeface="Alegreya Sans" panose="00000500000000000000" pitchFamily="2" charset="0"/>
              </a:rPr>
              <a:t>resting blood </a:t>
            </a:r>
            <a:r>
              <a:rPr lang="en-US" sz="1800" b="1" dirty="0" err="1">
                <a:latin typeface="Alegreya Sans" panose="00000500000000000000" pitchFamily="2" charset="0"/>
              </a:rPr>
              <a:t>pressu</a:t>
            </a:r>
            <a:r>
              <a:rPr lang="sl-SI" sz="1800" b="1" dirty="0">
                <a:latin typeface="Alegreya Sans" panose="00000500000000000000" pitchFamily="2" charset="0"/>
              </a:rPr>
              <a:t>re</a:t>
            </a:r>
            <a:r>
              <a:rPr lang="sl-SI" sz="1800" dirty="0">
                <a:latin typeface="Alegreya Sans" panose="00000500000000000000" pitchFamily="2" charset="0"/>
              </a:rPr>
              <a:t> (</a:t>
            </a:r>
            <a:r>
              <a:rPr lang="sl-SI" sz="1800" dirty="0" err="1">
                <a:latin typeface="Alegreya Sans" panose="00000500000000000000" pitchFamily="2" charset="0"/>
              </a:rPr>
              <a:t>trestbps</a:t>
            </a:r>
            <a:r>
              <a:rPr lang="sl-SI" sz="1800" dirty="0">
                <a:latin typeface="Alegreya Sans" panose="00000500000000000000" pitchFamily="2" charset="0"/>
              </a:rPr>
              <a:t>) </a:t>
            </a:r>
            <a:r>
              <a:rPr lang="en-US" sz="1800" dirty="0">
                <a:latin typeface="Alegreya Sans" panose="00000500000000000000" pitchFamily="2" charset="0"/>
              </a:rPr>
              <a:t>associated with whether a patient will ultimately be diagnosed with </a:t>
            </a:r>
            <a:r>
              <a:rPr lang="en-US" sz="1800" b="1" dirty="0">
                <a:latin typeface="Alegreya Sans" panose="00000500000000000000" pitchFamily="2" charset="0"/>
              </a:rPr>
              <a:t>heart disease</a:t>
            </a:r>
            <a:r>
              <a:rPr lang="en-US" sz="1800" dirty="0">
                <a:latin typeface="Alegreya Sans" panose="00000500000000000000" pitchFamily="2" charset="0"/>
              </a:rPr>
              <a:t>?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Results</a:t>
            </a:r>
            <a:r>
              <a:rPr lang="sl-SI" sz="1800" dirty="0">
                <a:latin typeface="Alegreya Sans" panose="00000500000000000000" pitchFamily="2" charset="0"/>
              </a:rPr>
              <a:t>:</a:t>
            </a:r>
          </a:p>
          <a:p>
            <a:pPr lvl="1"/>
            <a:r>
              <a:rPr lang="en-US" sz="1800" dirty="0">
                <a:latin typeface="Alegreya Sans" panose="00000500000000000000" pitchFamily="2" charset="0"/>
              </a:rPr>
              <a:t>Resting BP is </a:t>
            </a:r>
            <a:r>
              <a:rPr lang="en-US" sz="1800" b="1" dirty="0">
                <a:latin typeface="Alegreya Sans" panose="00000500000000000000" pitchFamily="2" charset="0"/>
              </a:rPr>
              <a:t>higher</a:t>
            </a:r>
            <a:r>
              <a:rPr lang="en-US" sz="1800" dirty="0">
                <a:latin typeface="Alegreya Sans" panose="00000500000000000000" pitchFamily="2" charset="0"/>
              </a:rPr>
              <a:t> in the heart disease group by about </a:t>
            </a:r>
            <a:r>
              <a:rPr lang="en-US" sz="1800" b="1" dirty="0">
                <a:latin typeface="Alegreya Sans" panose="00000500000000000000" pitchFamily="2" charset="0"/>
              </a:rPr>
              <a:t>+5.32 mm Hg</a:t>
            </a:r>
            <a:r>
              <a:rPr lang="en-US" sz="1800" dirty="0">
                <a:latin typeface="Alegreya Sans" panose="00000500000000000000" pitchFamily="2" charset="0"/>
              </a:rPr>
              <a:t> on average</a:t>
            </a:r>
            <a:endParaRPr lang="sl-SI" sz="1800" dirty="0">
              <a:latin typeface="Alegreya Sans" panose="00000500000000000000" pitchFamily="2" charset="0"/>
            </a:endParaRPr>
          </a:p>
          <a:p>
            <a:pPr lvl="2"/>
            <a:r>
              <a:rPr lang="sl-SI" sz="1800" dirty="0">
                <a:latin typeface="Alegreya Sans" panose="00000500000000000000" pitchFamily="2" charset="0"/>
              </a:rPr>
              <a:t>M</a:t>
            </a:r>
            <a:r>
              <a:rPr lang="en-US" sz="1800" dirty="0" err="1">
                <a:latin typeface="Alegreya Sans" panose="00000500000000000000" pitchFamily="2" charset="0"/>
              </a:rPr>
              <a:t>ean</a:t>
            </a:r>
            <a:r>
              <a:rPr lang="en-US" sz="1800" dirty="0">
                <a:latin typeface="Alegreya Sans" panose="00000500000000000000" pitchFamily="2" charset="0"/>
              </a:rPr>
              <a:t> difference </a:t>
            </a:r>
            <a:r>
              <a:rPr lang="en-US" sz="1800" b="1" dirty="0">
                <a:latin typeface="Alegreya Sans" panose="00000500000000000000" pitchFamily="2" charset="0"/>
              </a:rPr>
              <a:t>+5.32</a:t>
            </a:r>
            <a:r>
              <a:rPr lang="sl-SI" sz="1800" dirty="0">
                <a:latin typeface="Alegreya Sans" panose="00000500000000000000" pitchFamily="2" charset="0"/>
              </a:rPr>
              <a:t>;</a:t>
            </a:r>
            <a:r>
              <a:rPr lang="en-US" sz="1800" dirty="0">
                <a:latin typeface="Alegreya Sans" panose="00000500000000000000" pitchFamily="2" charset="0"/>
              </a:rPr>
              <a:t> median difference </a:t>
            </a:r>
            <a:r>
              <a:rPr lang="en-US" sz="1800" b="1" dirty="0">
                <a:latin typeface="Alegreya Sans" panose="00000500000000000000" pitchFamily="2" charset="0"/>
              </a:rPr>
              <a:t>0.0</a:t>
            </a:r>
            <a:endParaRPr lang="sl-SI" sz="1800" b="1" dirty="0">
              <a:latin typeface="Alegreya Sans" panose="00000500000000000000" pitchFamily="2" charset="0"/>
            </a:endParaRPr>
          </a:p>
          <a:p>
            <a:pPr lvl="2"/>
            <a:r>
              <a:rPr lang="en-US" sz="1800" dirty="0">
                <a:latin typeface="Alegreya Sans" panose="00000500000000000000" pitchFamily="2" charset="0"/>
              </a:rPr>
              <a:t>Two-sample t-test: </a:t>
            </a:r>
            <a:r>
              <a:rPr lang="en-US" sz="1800" b="1" dirty="0">
                <a:latin typeface="Alegreya Sans" panose="00000500000000000000" pitchFamily="2" charset="0"/>
              </a:rPr>
              <a:t>p = 0.00855</a:t>
            </a:r>
            <a:r>
              <a:rPr lang="en-US" sz="1800" dirty="0">
                <a:latin typeface="Alegreya Sans" panose="00000500000000000000" pitchFamily="2" charset="0"/>
              </a:rPr>
              <a:t> → </a:t>
            </a:r>
            <a:r>
              <a:rPr lang="en-US" sz="1800" b="1" dirty="0">
                <a:latin typeface="Alegreya Sans" panose="00000500000000000000" pitchFamily="2" charset="0"/>
              </a:rPr>
              <a:t>statistically significant</a:t>
            </a:r>
            <a:r>
              <a:rPr lang="sl-SI" sz="1800" b="1" dirty="0">
                <a:latin typeface="Alegreya Sans" panose="00000500000000000000" pitchFamily="2" charset="0"/>
              </a:rPr>
              <a:t>!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Conclusion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Resting blood pressure shows a </a:t>
            </a:r>
            <a:r>
              <a:rPr lang="en-US" sz="1800" b="1" dirty="0">
                <a:latin typeface="Alegreya Sans" panose="00000500000000000000" pitchFamily="2" charset="0"/>
              </a:rPr>
              <a:t>small but significant</a:t>
            </a:r>
            <a:r>
              <a:rPr lang="en-US" sz="1800" dirty="0">
                <a:latin typeface="Alegreya Sans" panose="00000500000000000000" pitchFamily="2" charset="0"/>
              </a:rPr>
              <a:t> association with heart disease; the average is higher in the heart disease group, though the </a:t>
            </a:r>
            <a:r>
              <a:rPr lang="en-US" sz="1800" b="1" dirty="0">
                <a:latin typeface="Alegreya Sans" panose="00000500000000000000" pitchFamily="2" charset="0"/>
              </a:rPr>
              <a:t>median is unchanged</a:t>
            </a:r>
            <a:r>
              <a:rPr lang="en-US" sz="1800" dirty="0">
                <a:latin typeface="Alegreya Sans" panose="00000500000000000000" pitchFamily="2" charset="0"/>
              </a:rPr>
              <a:t>.</a:t>
            </a:r>
            <a:endParaRPr lang="sl-SI" sz="1800" dirty="0">
              <a:latin typeface="Alegreya Sans" panose="00000500000000000000" pitchFamily="2" charset="0"/>
            </a:endParaRPr>
          </a:p>
          <a:p>
            <a:endParaRPr lang="sl-SI" sz="1800" dirty="0">
              <a:latin typeface="Alegreya Sans" panose="00000500000000000000" pitchFamily="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0E01D12-D2D0-1148-7564-99770AD552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81391" y="2096028"/>
            <a:ext cx="4963218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819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B8A45-1D6D-09BE-82B1-D7E49802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FBF9E2-992B-9AC6-5588-CC7E530AD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2400" b="1" dirty="0">
                <a:latin typeface="Alegreya Sans" panose="00000500000000000000" pitchFamily="2" charset="0"/>
              </a:rPr>
              <a:t>D</a:t>
            </a:r>
            <a:r>
              <a:rPr lang="en-US" sz="2400" b="1" dirty="0" err="1">
                <a:latin typeface="Alegreya Sans" panose="00000500000000000000" pitchFamily="2" charset="0"/>
              </a:rPr>
              <a:t>emographics</a:t>
            </a:r>
            <a:r>
              <a:rPr lang="en-US" sz="2400" b="1" dirty="0">
                <a:latin typeface="Alegreya Sans" panose="00000500000000000000" pitchFamily="2" charset="0"/>
              </a:rPr>
              <a:t>/vitals</a:t>
            </a:r>
            <a:r>
              <a:rPr lang="sl-SI" sz="2400" b="1" dirty="0">
                <a:latin typeface="Alegreya Sans" panose="00000500000000000000" pitchFamily="2" charset="0"/>
              </a:rPr>
              <a:t> 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–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sex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vs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heart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disease</a:t>
            </a:r>
            <a:endParaRPr lang="sl-SI" sz="2400" b="1" dirty="0">
              <a:latin typeface="Alegreya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393485-9631-8DE8-D435-7F840827A0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sl-SI" sz="1800" dirty="0" err="1">
                <a:latin typeface="Alegreya Sans" panose="00000500000000000000" pitchFamily="2" charset="0"/>
              </a:rPr>
              <a:t>Question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Is </a:t>
            </a:r>
            <a:r>
              <a:rPr lang="sl-SI" sz="1800" b="1" dirty="0" err="1">
                <a:latin typeface="Alegreya Sans" panose="00000500000000000000" pitchFamily="2" charset="0"/>
              </a:rPr>
              <a:t>sex</a:t>
            </a:r>
            <a:r>
              <a:rPr lang="sl-SI" sz="1800" b="1" dirty="0">
                <a:latin typeface="Alegreya Sans" panose="00000500000000000000" pitchFamily="2" charset="0"/>
              </a:rPr>
              <a:t> </a:t>
            </a:r>
            <a:r>
              <a:rPr lang="en-US" sz="1800" dirty="0">
                <a:latin typeface="Alegreya Sans" panose="00000500000000000000" pitchFamily="2" charset="0"/>
              </a:rPr>
              <a:t>associated with whether a patient will ultimately be diagnosed with </a:t>
            </a:r>
            <a:r>
              <a:rPr lang="en-US" sz="1800" b="1" dirty="0">
                <a:latin typeface="Alegreya Sans" panose="00000500000000000000" pitchFamily="2" charset="0"/>
              </a:rPr>
              <a:t>heart disease</a:t>
            </a:r>
            <a:r>
              <a:rPr lang="en-US" sz="1800" dirty="0">
                <a:latin typeface="Alegreya Sans" panose="00000500000000000000" pitchFamily="2" charset="0"/>
              </a:rPr>
              <a:t>?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Results</a:t>
            </a:r>
            <a:r>
              <a:rPr lang="sl-SI" sz="1800" dirty="0">
                <a:latin typeface="Alegreya Sans" panose="00000500000000000000" pitchFamily="2" charset="0"/>
              </a:rPr>
              <a:t> (2×2 table + </a:t>
            </a:r>
            <a:r>
              <a:rPr lang="el-GR" sz="1800" dirty="0">
                <a:latin typeface="Alegreya Sans" panose="00000500000000000000" pitchFamily="2" charset="0"/>
              </a:rPr>
              <a:t>χ² </a:t>
            </a:r>
            <a:r>
              <a:rPr lang="sl-SI" sz="1800" dirty="0">
                <a:latin typeface="Alegreya Sans" panose="00000500000000000000" pitchFamily="2" charset="0"/>
              </a:rPr>
              <a:t>test):</a:t>
            </a:r>
          </a:p>
          <a:p>
            <a:pPr lvl="1"/>
            <a:r>
              <a:rPr lang="sl-SI" sz="1800" b="1" dirty="0">
                <a:latin typeface="Alegreya Sans" panose="00000500000000000000" pitchFamily="2" charset="0"/>
              </a:rPr>
              <a:t>F</a:t>
            </a:r>
            <a:r>
              <a:rPr lang="en-US" sz="1800" b="1" dirty="0" err="1">
                <a:latin typeface="Alegreya Sans" panose="00000500000000000000" pitchFamily="2" charset="0"/>
              </a:rPr>
              <a:t>emale</a:t>
            </a:r>
            <a:r>
              <a:rPr lang="en-US" sz="1800" b="1" dirty="0">
                <a:latin typeface="Alegreya Sans" panose="00000500000000000000" pitchFamily="2" charset="0"/>
              </a:rPr>
              <a:t>:</a:t>
            </a:r>
            <a:r>
              <a:rPr lang="en-US" sz="1800" dirty="0">
                <a:latin typeface="Alegreya Sans" panose="00000500000000000000" pitchFamily="2" charset="0"/>
              </a:rPr>
              <a:t> </a:t>
            </a:r>
            <a:r>
              <a:rPr lang="en-US" sz="1800" b="1" dirty="0">
                <a:latin typeface="Alegreya Sans" panose="00000500000000000000" pitchFamily="2" charset="0"/>
              </a:rPr>
              <a:t>25.8%</a:t>
            </a:r>
            <a:r>
              <a:rPr lang="en-US" sz="1800" dirty="0">
                <a:latin typeface="Alegreya Sans" panose="00000500000000000000" pitchFamily="2" charset="0"/>
              </a:rPr>
              <a:t> (</a:t>
            </a:r>
            <a:r>
              <a:rPr lang="en-US" sz="1800" b="1" dirty="0">
                <a:latin typeface="Alegreya Sans" panose="00000500000000000000" pitchFamily="2" charset="0"/>
              </a:rPr>
              <a:t>25/97</a:t>
            </a:r>
            <a:r>
              <a:rPr lang="en-US" sz="1800" dirty="0">
                <a:latin typeface="Alegreya Sans" panose="00000500000000000000" pitchFamily="2" charset="0"/>
              </a:rPr>
              <a:t>)</a:t>
            </a:r>
            <a:r>
              <a:rPr lang="sl-SI" sz="1800" dirty="0">
                <a:latin typeface="Alegreya Sans" panose="00000500000000000000" pitchFamily="2" charset="0"/>
              </a:rPr>
              <a:t> </a:t>
            </a:r>
            <a:r>
              <a:rPr lang="en-US" sz="1800" dirty="0">
                <a:latin typeface="Alegreya Sans" panose="00000500000000000000" pitchFamily="2" charset="0"/>
              </a:rPr>
              <a:t>diagnosed with heart disease </a:t>
            </a:r>
            <a:endParaRPr lang="sl-SI" sz="1800" dirty="0">
              <a:latin typeface="Alegreya Sans" panose="00000500000000000000" pitchFamily="2" charset="0"/>
            </a:endParaRPr>
          </a:p>
          <a:p>
            <a:pPr lvl="1"/>
            <a:r>
              <a:rPr lang="sl-SI" sz="1800" b="1" dirty="0">
                <a:latin typeface="Alegreya Sans" panose="00000500000000000000" pitchFamily="2" charset="0"/>
              </a:rPr>
              <a:t>M</a:t>
            </a:r>
            <a:r>
              <a:rPr lang="en-US" sz="1800" b="1" dirty="0">
                <a:latin typeface="Alegreya Sans" panose="00000500000000000000" pitchFamily="2" charset="0"/>
              </a:rPr>
              <a:t>ale:</a:t>
            </a:r>
            <a:r>
              <a:rPr lang="en-US" sz="1800" dirty="0">
                <a:latin typeface="Alegreya Sans" panose="00000500000000000000" pitchFamily="2" charset="0"/>
              </a:rPr>
              <a:t> </a:t>
            </a:r>
            <a:r>
              <a:rPr lang="en-US" sz="1800" b="1" dirty="0">
                <a:latin typeface="Alegreya Sans" panose="00000500000000000000" pitchFamily="2" charset="0"/>
              </a:rPr>
              <a:t>55.3%</a:t>
            </a:r>
            <a:r>
              <a:rPr lang="en-US" sz="1800" dirty="0">
                <a:latin typeface="Alegreya Sans" panose="00000500000000000000" pitchFamily="2" charset="0"/>
              </a:rPr>
              <a:t> (</a:t>
            </a:r>
            <a:r>
              <a:rPr lang="en-US" sz="1800" b="1" dirty="0">
                <a:latin typeface="Alegreya Sans" panose="00000500000000000000" pitchFamily="2" charset="0"/>
              </a:rPr>
              <a:t>114/206</a:t>
            </a:r>
            <a:r>
              <a:rPr lang="en-US" sz="1800" dirty="0">
                <a:latin typeface="Alegreya Sans" panose="00000500000000000000" pitchFamily="2" charset="0"/>
              </a:rPr>
              <a:t>)</a:t>
            </a:r>
            <a:r>
              <a:rPr lang="sl-SI" sz="1800" dirty="0">
                <a:latin typeface="Alegreya Sans" panose="00000500000000000000" pitchFamily="2" charset="0"/>
              </a:rPr>
              <a:t> </a:t>
            </a:r>
            <a:r>
              <a:rPr lang="en-US" sz="1800" dirty="0">
                <a:latin typeface="Alegreya Sans" panose="00000500000000000000" pitchFamily="2" charset="0"/>
              </a:rPr>
              <a:t>diagnosed with heart disease </a:t>
            </a:r>
            <a:endParaRPr lang="sl-SI" sz="1800" dirty="0">
              <a:latin typeface="Alegreya Sans" panose="00000500000000000000" pitchFamily="2" charset="0"/>
            </a:endParaRPr>
          </a:p>
          <a:p>
            <a:pPr lvl="1"/>
            <a:r>
              <a:rPr lang="sl-SI" sz="1800" dirty="0" err="1">
                <a:latin typeface="Alegreya Sans" panose="00000500000000000000" pitchFamily="2" charset="0"/>
              </a:rPr>
              <a:t>Chi-square</a:t>
            </a:r>
            <a:r>
              <a:rPr lang="sl-SI" sz="1800" dirty="0">
                <a:latin typeface="Alegreya Sans" panose="00000500000000000000" pitchFamily="2" charset="0"/>
              </a:rPr>
              <a:t> test: </a:t>
            </a:r>
            <a:r>
              <a:rPr lang="sl-SI" sz="1800" b="1" dirty="0">
                <a:latin typeface="Alegreya Sans" panose="00000500000000000000" pitchFamily="2" charset="0"/>
              </a:rPr>
              <a:t>p = 2.67e−06</a:t>
            </a:r>
            <a:r>
              <a:rPr lang="sl-SI" sz="1800" dirty="0">
                <a:latin typeface="Alegreya Sans" panose="00000500000000000000" pitchFamily="2" charset="0"/>
              </a:rPr>
              <a:t> → </a:t>
            </a:r>
            <a:r>
              <a:rPr lang="sl-SI" sz="1800" b="1" dirty="0" err="1">
                <a:latin typeface="Alegreya Sans" panose="00000500000000000000" pitchFamily="2" charset="0"/>
              </a:rPr>
              <a:t>statistically</a:t>
            </a:r>
            <a:r>
              <a:rPr lang="sl-SI" sz="1800" b="1" dirty="0">
                <a:latin typeface="Alegreya Sans" panose="00000500000000000000" pitchFamily="2" charset="0"/>
              </a:rPr>
              <a:t> </a:t>
            </a:r>
            <a:r>
              <a:rPr lang="sl-SI" sz="1800" b="1" dirty="0" err="1">
                <a:latin typeface="Alegreya Sans" panose="00000500000000000000" pitchFamily="2" charset="0"/>
              </a:rPr>
              <a:t>significant</a:t>
            </a:r>
            <a:r>
              <a:rPr lang="sl-SI" sz="1800" b="1" dirty="0">
                <a:latin typeface="Alegreya Sans" panose="00000500000000000000" pitchFamily="2" charset="0"/>
              </a:rPr>
              <a:t> </a:t>
            </a:r>
            <a:r>
              <a:rPr lang="sl-SI" sz="1800" b="1" dirty="0" err="1">
                <a:latin typeface="Alegreya Sans" panose="00000500000000000000" pitchFamily="2" charset="0"/>
              </a:rPr>
              <a:t>association</a:t>
            </a:r>
            <a:endParaRPr lang="sl-SI" sz="1800" b="1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Conclusion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In this clinical sample, </a:t>
            </a:r>
            <a:r>
              <a:rPr lang="en-US" sz="1800" b="1" dirty="0">
                <a:latin typeface="Alegreya Sans" panose="00000500000000000000" pitchFamily="2" charset="0"/>
              </a:rPr>
              <a:t>males are more likely to be diagnosed </a:t>
            </a:r>
            <a:r>
              <a:rPr lang="en-US" sz="1800" dirty="0">
                <a:latin typeface="Alegreya Sans" panose="00000500000000000000" pitchFamily="2" charset="0"/>
              </a:rPr>
              <a:t>with heart disease than females.</a:t>
            </a:r>
            <a:endParaRPr lang="sl-SI" sz="1800" dirty="0">
              <a:latin typeface="Alegreya Sans" panose="00000500000000000000" pitchFamily="2" charset="0"/>
            </a:endParaRPr>
          </a:p>
          <a:p>
            <a:endParaRPr lang="sl-SI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FAF83E1C-9EC1-952A-A347-B92B3C08E2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112073"/>
            <a:ext cx="5181600" cy="377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157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A8354-A40E-73BC-84E4-66D7772C1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8F29F7-651D-23B9-0A9A-E5126C43D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2400" b="1" dirty="0">
                <a:latin typeface="Alegreya Sans" panose="00000500000000000000" pitchFamily="2" charset="0"/>
              </a:rPr>
              <a:t>D</a:t>
            </a:r>
            <a:r>
              <a:rPr lang="en-US" sz="2400" b="1" dirty="0" err="1">
                <a:latin typeface="Alegreya Sans" panose="00000500000000000000" pitchFamily="2" charset="0"/>
              </a:rPr>
              <a:t>emographics</a:t>
            </a:r>
            <a:r>
              <a:rPr lang="en-US" sz="2400" b="1" dirty="0">
                <a:latin typeface="Alegreya Sans" panose="00000500000000000000" pitchFamily="2" charset="0"/>
              </a:rPr>
              <a:t>/vitals</a:t>
            </a:r>
            <a:r>
              <a:rPr lang="sl-SI" sz="2400" b="1" dirty="0">
                <a:latin typeface="Alegreya Sans" panose="00000500000000000000" pitchFamily="2" charset="0"/>
              </a:rPr>
              <a:t> –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cholesterol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vs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heart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disease</a:t>
            </a:r>
            <a:endParaRPr lang="sl-SI" sz="2400" b="1" dirty="0">
              <a:latin typeface="Alegreya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66226E7-263F-F44A-0674-B4BC4C6437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sl-SI" sz="1800" dirty="0" err="1">
                <a:latin typeface="Alegreya Sans" panose="00000500000000000000" pitchFamily="2" charset="0"/>
              </a:rPr>
              <a:t>Question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Is  </a:t>
            </a:r>
            <a:r>
              <a:rPr lang="sl-SI" sz="1800" b="1" dirty="0" err="1">
                <a:latin typeface="Alegreya Sans" panose="00000500000000000000" pitchFamily="2" charset="0"/>
              </a:rPr>
              <a:t>cholesterol</a:t>
            </a:r>
            <a:r>
              <a:rPr lang="sl-SI" sz="1800" dirty="0">
                <a:latin typeface="Alegreya Sans" panose="00000500000000000000" pitchFamily="2" charset="0"/>
              </a:rPr>
              <a:t> (</a:t>
            </a:r>
            <a:r>
              <a:rPr lang="sl-SI" sz="1800" dirty="0" err="1">
                <a:latin typeface="Alegreya Sans" panose="00000500000000000000" pitchFamily="2" charset="0"/>
              </a:rPr>
              <a:t>chol</a:t>
            </a:r>
            <a:r>
              <a:rPr lang="sl-SI" sz="1800" dirty="0">
                <a:latin typeface="Alegreya Sans" panose="00000500000000000000" pitchFamily="2" charset="0"/>
              </a:rPr>
              <a:t>) </a:t>
            </a:r>
            <a:r>
              <a:rPr lang="en-US" sz="1800" dirty="0">
                <a:latin typeface="Alegreya Sans" panose="00000500000000000000" pitchFamily="2" charset="0"/>
              </a:rPr>
              <a:t>associated with whether a patient will ultimately be diagnosed with </a:t>
            </a:r>
            <a:r>
              <a:rPr lang="en-US" sz="1800" b="1" dirty="0">
                <a:latin typeface="Alegreya Sans" panose="00000500000000000000" pitchFamily="2" charset="0"/>
              </a:rPr>
              <a:t>heart disease</a:t>
            </a:r>
            <a:r>
              <a:rPr lang="en-US" sz="1800" dirty="0">
                <a:latin typeface="Alegreya Sans" panose="00000500000000000000" pitchFamily="2" charset="0"/>
              </a:rPr>
              <a:t>?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Results</a:t>
            </a:r>
            <a:r>
              <a:rPr lang="sl-SI" sz="1800" dirty="0">
                <a:latin typeface="Alegreya Sans" panose="00000500000000000000" pitchFamily="2" charset="0"/>
              </a:rPr>
              <a:t>:</a:t>
            </a:r>
          </a:p>
          <a:p>
            <a:pPr lvl="1"/>
            <a:r>
              <a:rPr lang="en-US" sz="1800" dirty="0">
                <a:latin typeface="Alegreya Sans" panose="00000500000000000000" pitchFamily="2" charset="0"/>
              </a:rPr>
              <a:t>Cholesterol is </a:t>
            </a:r>
            <a:r>
              <a:rPr lang="en-US" sz="1800" b="1" dirty="0">
                <a:latin typeface="Alegreya Sans" panose="00000500000000000000" pitchFamily="2" charset="0"/>
              </a:rPr>
              <a:t>higher</a:t>
            </a:r>
            <a:r>
              <a:rPr lang="en-US" sz="1800" dirty="0">
                <a:latin typeface="Alegreya Sans" panose="00000500000000000000" pitchFamily="2" charset="0"/>
              </a:rPr>
              <a:t> in the heart disease group, but the difference is modest </a:t>
            </a:r>
            <a:endParaRPr lang="sl-SI" sz="1800" dirty="0">
              <a:latin typeface="Alegreya Sans" panose="00000500000000000000" pitchFamily="2" charset="0"/>
            </a:endParaRPr>
          </a:p>
          <a:p>
            <a:pPr lvl="2"/>
            <a:r>
              <a:rPr lang="sl-SI" sz="1800" dirty="0">
                <a:latin typeface="Alegreya Sans" panose="00000500000000000000" pitchFamily="2" charset="0"/>
              </a:rPr>
              <a:t>M</a:t>
            </a:r>
            <a:r>
              <a:rPr lang="en-US" sz="1800" dirty="0" err="1">
                <a:latin typeface="Alegreya Sans" panose="00000500000000000000" pitchFamily="2" charset="0"/>
              </a:rPr>
              <a:t>ean</a:t>
            </a:r>
            <a:r>
              <a:rPr lang="en-US" sz="1800" dirty="0">
                <a:latin typeface="Alegreya Sans" panose="00000500000000000000" pitchFamily="2" charset="0"/>
              </a:rPr>
              <a:t> difference </a:t>
            </a:r>
            <a:r>
              <a:rPr lang="en-US" sz="1800" b="1" dirty="0">
                <a:latin typeface="Alegreya Sans" panose="00000500000000000000" pitchFamily="2" charset="0"/>
              </a:rPr>
              <a:t>+8.83 mg/dl</a:t>
            </a:r>
            <a:r>
              <a:rPr lang="sl-SI" sz="1800" dirty="0">
                <a:latin typeface="Alegreya Sans" panose="00000500000000000000" pitchFamily="2" charset="0"/>
              </a:rPr>
              <a:t>; </a:t>
            </a:r>
            <a:r>
              <a:rPr lang="en-US" sz="1800" dirty="0">
                <a:latin typeface="Alegreya Sans" panose="00000500000000000000" pitchFamily="2" charset="0"/>
              </a:rPr>
              <a:t>median difference </a:t>
            </a:r>
            <a:r>
              <a:rPr lang="en-US" sz="1800" b="1" dirty="0">
                <a:latin typeface="Alegreya Sans" panose="00000500000000000000" pitchFamily="2" charset="0"/>
              </a:rPr>
              <a:t>+14.5 mg/dl</a:t>
            </a:r>
            <a:r>
              <a:rPr lang="en-US" sz="1800" dirty="0">
                <a:latin typeface="Alegreya Sans" panose="00000500000000000000" pitchFamily="2" charset="0"/>
              </a:rPr>
              <a:t>. </a:t>
            </a:r>
            <a:endParaRPr lang="sl-SI" sz="1800" dirty="0">
              <a:latin typeface="Alegreya Sans" panose="00000500000000000000" pitchFamily="2" charset="0"/>
            </a:endParaRPr>
          </a:p>
          <a:p>
            <a:pPr lvl="2"/>
            <a:r>
              <a:rPr lang="en-US" sz="1800" dirty="0">
                <a:latin typeface="Alegreya Sans" panose="00000500000000000000" pitchFamily="2" charset="0"/>
              </a:rPr>
              <a:t>Two-sample t-test: </a:t>
            </a:r>
            <a:r>
              <a:rPr lang="en-US" sz="1800" b="1" dirty="0">
                <a:latin typeface="Alegreya Sans" panose="00000500000000000000" pitchFamily="2" charset="0"/>
              </a:rPr>
              <a:t>p = 0.137</a:t>
            </a:r>
            <a:r>
              <a:rPr lang="en-US" sz="1800" dirty="0">
                <a:latin typeface="Alegreya Sans" panose="00000500000000000000" pitchFamily="2" charset="0"/>
              </a:rPr>
              <a:t> → </a:t>
            </a:r>
            <a:r>
              <a:rPr lang="en-US" sz="1800" b="1" dirty="0">
                <a:latin typeface="Alegreya Sans" panose="00000500000000000000" pitchFamily="2" charset="0"/>
              </a:rPr>
              <a:t>not statistically significant </a:t>
            </a:r>
            <a:endParaRPr lang="sl-SI" sz="1800" b="1" dirty="0">
              <a:latin typeface="Alegreya Sans" panose="00000500000000000000" pitchFamily="2" charset="0"/>
            </a:endParaRPr>
          </a:p>
          <a:p>
            <a:r>
              <a:rPr lang="sl-SI" sz="1800" dirty="0" err="1">
                <a:latin typeface="Alegreya Sans" panose="00000500000000000000" pitchFamily="2" charset="0"/>
              </a:rPr>
              <a:t>Conclusion</a:t>
            </a:r>
            <a:r>
              <a:rPr lang="sl-SI" sz="1800" dirty="0">
                <a:latin typeface="Alegreya Sans" panose="00000500000000000000" pitchFamily="2" charset="0"/>
              </a:rPr>
              <a:t>: </a:t>
            </a:r>
            <a:r>
              <a:rPr lang="en-US" sz="1800" dirty="0">
                <a:latin typeface="Alegreya Sans" panose="00000500000000000000" pitchFamily="2" charset="0"/>
              </a:rPr>
              <a:t>In this sample, cholesterol is </a:t>
            </a:r>
            <a:r>
              <a:rPr lang="en-US" sz="1800" b="1" dirty="0">
                <a:latin typeface="Alegreya Sans" panose="00000500000000000000" pitchFamily="2" charset="0"/>
              </a:rPr>
              <a:t>not a strong discriminator</a:t>
            </a:r>
            <a:r>
              <a:rPr lang="en-US" sz="1800" dirty="0">
                <a:latin typeface="Alegreya Sans" panose="00000500000000000000" pitchFamily="2" charset="0"/>
              </a:rPr>
              <a:t> between heart disease vs no heart disease (despite being above the 240 mg/dl threshold within the heart disease group</a:t>
            </a:r>
            <a:r>
              <a:rPr lang="sl-SI" sz="1800" dirty="0">
                <a:latin typeface="Alegreya Sans" panose="00000500000000000000" pitchFamily="2" charset="0"/>
              </a:rPr>
              <a:t>(</a:t>
            </a:r>
            <a:r>
              <a:rPr lang="sl-SI" sz="1800" dirty="0" err="1">
                <a:latin typeface="Alegreya Sans" panose="00000500000000000000" pitchFamily="2" charset="0"/>
              </a:rPr>
              <a:t>see</a:t>
            </a:r>
            <a:r>
              <a:rPr lang="sl-SI" sz="1800" dirty="0">
                <a:latin typeface="Alegreya Sans" panose="00000500000000000000" pitchFamily="2" charset="0"/>
              </a:rPr>
              <a:t> </a:t>
            </a:r>
            <a:r>
              <a:rPr lang="sl-SI" sz="1800" dirty="0" err="1">
                <a:latin typeface="Alegreya Sans" panose="00000500000000000000" pitchFamily="2" charset="0"/>
              </a:rPr>
              <a:t>slide</a:t>
            </a:r>
            <a:r>
              <a:rPr lang="sl-SI" sz="1800" dirty="0">
                <a:latin typeface="Alegreya Sans" panose="00000500000000000000" pitchFamily="2" charset="0"/>
              </a:rPr>
              <a:t> 3)</a:t>
            </a:r>
            <a:r>
              <a:rPr lang="en-US" sz="1800" dirty="0">
                <a:latin typeface="Alegreya Sans" panose="00000500000000000000" pitchFamily="2" charset="0"/>
              </a:rPr>
              <a:t>).</a:t>
            </a:r>
            <a:endParaRPr lang="sl-SI" sz="1800" dirty="0">
              <a:latin typeface="Alegreya Sans" panose="00000500000000000000" pitchFamily="2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52CF566-7BBD-20AF-A5DD-4B98BA9458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86154" y="2110317"/>
            <a:ext cx="4953691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123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9C0B7-2403-BBED-4939-93AD0FFF5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Key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takeaways</a:t>
            </a:r>
            <a:endParaRPr lang="sl-SI" sz="2400" b="1" dirty="0">
              <a:latin typeface="Alegreya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DE987-A001-CAC2-2726-999DC7C95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latin typeface="Alegreya Sans" panose="00000500000000000000" pitchFamily="2" charset="0"/>
              </a:rPr>
              <a:t>Symptom + exercise signals are the strongest markers:</a:t>
            </a:r>
            <a:r>
              <a:rPr lang="en-US" sz="1800" dirty="0">
                <a:latin typeface="Alegreya Sans" panose="00000500000000000000" pitchFamily="2" charset="0"/>
              </a:rPr>
              <a:t> chest pain type (</a:t>
            </a:r>
            <a:r>
              <a:rPr lang="en-US" sz="1800" b="1" dirty="0">
                <a:latin typeface="Alegreya Sans" panose="00000500000000000000" pitchFamily="2" charset="0"/>
              </a:rPr>
              <a:t>χ² p = 1.25e−17</a:t>
            </a:r>
            <a:r>
              <a:rPr lang="en-US" sz="1800" dirty="0">
                <a:latin typeface="Alegreya Sans" panose="00000500000000000000" pitchFamily="2" charset="0"/>
              </a:rPr>
              <a:t>) and exercise-induced angina (</a:t>
            </a:r>
            <a:r>
              <a:rPr lang="en-US" sz="1800" b="1" dirty="0">
                <a:latin typeface="Alegreya Sans" panose="00000500000000000000" pitchFamily="2" charset="0"/>
              </a:rPr>
              <a:t>HD rate 76.8% vs 30.9%, χ² p = 1.41e−13</a:t>
            </a:r>
            <a:r>
              <a:rPr lang="en-US" sz="1800" dirty="0">
                <a:latin typeface="Alegreya Sans" panose="00000500000000000000" pitchFamily="2" charset="0"/>
              </a:rPr>
              <a:t>) show large separation.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b="1" dirty="0">
                <a:latin typeface="Alegreya Sans" panose="00000500000000000000" pitchFamily="2" charset="0"/>
              </a:rPr>
              <a:t>E</a:t>
            </a:r>
            <a:r>
              <a:rPr lang="en-US" sz="1800" b="1" dirty="0" err="1">
                <a:latin typeface="Alegreya Sans" panose="00000500000000000000" pitchFamily="2" charset="0"/>
              </a:rPr>
              <a:t>xercise</a:t>
            </a:r>
            <a:r>
              <a:rPr lang="en-US" sz="1800" b="1" dirty="0">
                <a:latin typeface="Alegreya Sans" panose="00000500000000000000" pitchFamily="2" charset="0"/>
              </a:rPr>
              <a:t> capacity differs strongly by diagnosis:</a:t>
            </a:r>
            <a:r>
              <a:rPr lang="en-US" sz="1800" dirty="0">
                <a:latin typeface="Alegreya Sans" panose="00000500000000000000" pitchFamily="2" charset="0"/>
              </a:rPr>
              <a:t> patients with heart disease reached </a:t>
            </a:r>
            <a:r>
              <a:rPr lang="en-US" sz="1800" b="1" dirty="0">
                <a:latin typeface="Alegreya Sans" panose="00000500000000000000" pitchFamily="2" charset="0"/>
              </a:rPr>
              <a:t>~19 bpm lower</a:t>
            </a:r>
            <a:r>
              <a:rPr lang="en-US" sz="1800" dirty="0">
                <a:latin typeface="Alegreya Sans" panose="00000500000000000000" pitchFamily="2" charset="0"/>
              </a:rPr>
              <a:t> max exercise heart rate (</a:t>
            </a:r>
            <a:r>
              <a:rPr lang="en-US" sz="1800" b="1" dirty="0">
                <a:latin typeface="Alegreya Sans" panose="00000500000000000000" pitchFamily="2" charset="0"/>
              </a:rPr>
              <a:t>p = 3.46e−14</a:t>
            </a:r>
            <a:r>
              <a:rPr lang="en-US" sz="1800" dirty="0">
                <a:latin typeface="Alegreya Sans" panose="00000500000000000000" pitchFamily="2" charset="0"/>
              </a:rPr>
              <a:t>).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b="1" dirty="0">
                <a:latin typeface="Alegreya Sans" panose="00000500000000000000" pitchFamily="2" charset="0"/>
              </a:rPr>
              <a:t>D</a:t>
            </a:r>
            <a:r>
              <a:rPr lang="en-US" sz="1800" b="1" dirty="0" err="1">
                <a:latin typeface="Alegreya Sans" panose="00000500000000000000" pitchFamily="2" charset="0"/>
              </a:rPr>
              <a:t>emographics</a:t>
            </a:r>
            <a:r>
              <a:rPr lang="en-US" sz="1800" b="1" dirty="0">
                <a:latin typeface="Alegreya Sans" panose="00000500000000000000" pitchFamily="2" charset="0"/>
              </a:rPr>
              <a:t>/vitals add signal:</a:t>
            </a:r>
            <a:r>
              <a:rPr lang="en-US" sz="1800" dirty="0">
                <a:latin typeface="Alegreya Sans" panose="00000500000000000000" pitchFamily="2" charset="0"/>
              </a:rPr>
              <a:t> heart disease patients are </a:t>
            </a:r>
            <a:r>
              <a:rPr lang="en-US" sz="1800" b="1" dirty="0">
                <a:latin typeface="Alegreya Sans" panose="00000500000000000000" pitchFamily="2" charset="0"/>
              </a:rPr>
              <a:t>older</a:t>
            </a:r>
            <a:r>
              <a:rPr lang="en-US" sz="1800" dirty="0">
                <a:latin typeface="Alegreya Sans" panose="00000500000000000000" pitchFamily="2" charset="0"/>
              </a:rPr>
              <a:t> (</a:t>
            </a:r>
            <a:r>
              <a:rPr lang="en-US" sz="1800" b="1" dirty="0">
                <a:latin typeface="Alegreya Sans" panose="00000500000000000000" pitchFamily="2" charset="0"/>
              </a:rPr>
              <a:t>+4 years mean; p ≈ 7.06e−05</a:t>
            </a:r>
            <a:r>
              <a:rPr lang="en-US" sz="1800" dirty="0">
                <a:latin typeface="Alegreya Sans" panose="00000500000000000000" pitchFamily="2" charset="0"/>
              </a:rPr>
              <a:t>) and have </a:t>
            </a:r>
            <a:r>
              <a:rPr lang="en-US" sz="1800" b="1" dirty="0">
                <a:latin typeface="Alegreya Sans" panose="00000500000000000000" pitchFamily="2" charset="0"/>
              </a:rPr>
              <a:t>slightly higher resting BP</a:t>
            </a:r>
            <a:r>
              <a:rPr lang="en-US" sz="1800" dirty="0">
                <a:latin typeface="Alegreya Sans" panose="00000500000000000000" pitchFamily="2" charset="0"/>
              </a:rPr>
              <a:t> (</a:t>
            </a:r>
            <a:r>
              <a:rPr lang="en-US" sz="1800" b="1" dirty="0">
                <a:latin typeface="Alegreya Sans" panose="00000500000000000000" pitchFamily="2" charset="0"/>
              </a:rPr>
              <a:t>+5.3 mmHg; p = 0.0086</a:t>
            </a:r>
            <a:r>
              <a:rPr lang="en-US" sz="1800" dirty="0">
                <a:latin typeface="Alegreya Sans" panose="00000500000000000000" pitchFamily="2" charset="0"/>
              </a:rPr>
              <a:t>).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sl-SI" sz="1800" b="1" dirty="0">
                <a:latin typeface="Alegreya Sans" panose="00000500000000000000" pitchFamily="2" charset="0"/>
              </a:rPr>
              <a:t>L</a:t>
            </a:r>
            <a:r>
              <a:rPr lang="en-US" sz="1800" b="1" dirty="0">
                <a:latin typeface="Alegreya Sans" panose="00000500000000000000" pitchFamily="2" charset="0"/>
              </a:rPr>
              <a:t>ab</a:t>
            </a:r>
            <a:r>
              <a:rPr lang="sl-SI" sz="1800" b="1" dirty="0">
                <a:latin typeface="Alegreya Sans" panose="00000500000000000000" pitchFamily="2" charset="0"/>
              </a:rPr>
              <a:t> </a:t>
            </a:r>
            <a:r>
              <a:rPr lang="sl-SI" sz="1800" b="1" dirty="0" err="1">
                <a:latin typeface="Alegreya Sans" panose="00000500000000000000" pitchFamily="2" charset="0"/>
              </a:rPr>
              <a:t>tests</a:t>
            </a:r>
            <a:r>
              <a:rPr lang="en-US" sz="1800" b="1" dirty="0">
                <a:latin typeface="Alegreya Sans" panose="00000500000000000000" pitchFamily="2" charset="0"/>
              </a:rPr>
              <a:t> tell a nuanced story:</a:t>
            </a:r>
            <a:r>
              <a:rPr lang="en-US" sz="1800" dirty="0">
                <a:latin typeface="Alegreya Sans" panose="00000500000000000000" pitchFamily="2" charset="0"/>
              </a:rPr>
              <a:t> </a:t>
            </a:r>
            <a:r>
              <a:rPr lang="sl-SI" sz="1800" dirty="0" err="1">
                <a:latin typeface="Alegreya Sans" panose="00000500000000000000" pitchFamily="2" charset="0"/>
              </a:rPr>
              <a:t>heart-disease</a:t>
            </a:r>
            <a:r>
              <a:rPr lang="en-US" sz="1800" dirty="0">
                <a:latin typeface="Alegreya Sans" panose="00000500000000000000" pitchFamily="2" charset="0"/>
              </a:rPr>
              <a:t> group</a:t>
            </a:r>
            <a:r>
              <a:rPr lang="sl-SI" sz="1800" dirty="0">
                <a:latin typeface="Alegreya Sans" panose="00000500000000000000" pitchFamily="2" charset="0"/>
              </a:rPr>
              <a:t>‘s</a:t>
            </a:r>
            <a:r>
              <a:rPr lang="en-US" sz="1800" dirty="0">
                <a:latin typeface="Alegreya Sans" panose="00000500000000000000" pitchFamily="2" charset="0"/>
              </a:rPr>
              <a:t> mean cholesterol is </a:t>
            </a:r>
            <a:r>
              <a:rPr lang="en-US" sz="1800" b="1" dirty="0">
                <a:latin typeface="Alegreya Sans" panose="00000500000000000000" pitchFamily="2" charset="0"/>
              </a:rPr>
              <a:t>&gt;240</a:t>
            </a:r>
            <a:r>
              <a:rPr lang="en-US" sz="1800" dirty="0">
                <a:latin typeface="Alegreya Sans" panose="00000500000000000000" pitchFamily="2" charset="0"/>
              </a:rPr>
              <a:t> (threshold test), but cholesterol is </a:t>
            </a:r>
            <a:r>
              <a:rPr lang="en-US" sz="1800" b="1" dirty="0">
                <a:latin typeface="Alegreya Sans" panose="00000500000000000000" pitchFamily="2" charset="0"/>
              </a:rPr>
              <a:t>not a strong between-group discriminator</a:t>
            </a:r>
            <a:r>
              <a:rPr lang="en-US" sz="1800" dirty="0">
                <a:latin typeface="Alegreya Sans" panose="00000500000000000000" pitchFamily="2" charset="0"/>
              </a:rPr>
              <a:t> (two-sample p ≈ 0.137). High FBS is </a:t>
            </a:r>
            <a:r>
              <a:rPr lang="en-US" sz="1800" b="1" dirty="0">
                <a:latin typeface="Alegreya Sans" panose="00000500000000000000" pitchFamily="2" charset="0"/>
              </a:rPr>
              <a:t>elevated vs 8% benchmark</a:t>
            </a:r>
            <a:r>
              <a:rPr lang="en-US" sz="1800" dirty="0">
                <a:latin typeface="Alegreya Sans" panose="00000500000000000000" pitchFamily="2" charset="0"/>
              </a:rPr>
              <a:t> (14.85% vs 8%, </a:t>
            </a:r>
            <a:r>
              <a:rPr lang="en-US" sz="1800" b="1" dirty="0">
                <a:latin typeface="Alegreya Sans" panose="00000500000000000000" pitchFamily="2" charset="0"/>
              </a:rPr>
              <a:t>p = 4.69e−05</a:t>
            </a:r>
            <a:r>
              <a:rPr lang="en-US" sz="1800" dirty="0">
                <a:latin typeface="Alegreya Sans" panose="00000500000000000000" pitchFamily="2" charset="0"/>
              </a:rPr>
              <a:t>).</a:t>
            </a:r>
            <a:endParaRPr lang="sl-SI" sz="1800" dirty="0">
              <a:latin typeface="Alegreya Sa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880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84822-3ABE-1714-6BF6-21EA859C4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Recommendations</a:t>
            </a:r>
            <a:r>
              <a:rPr lang="sl-SI" sz="2400" b="1" dirty="0">
                <a:latin typeface="Alegreya Sans" panose="00000500000000000000" pitchFamily="2" charset="0"/>
                <a:ea typeface="+mn-ea"/>
                <a:cs typeface="+mn-cs"/>
              </a:rPr>
              <a:t>                                                                </a:t>
            </a:r>
            <a:r>
              <a:rPr lang="sl-SI" sz="2400" b="1" dirty="0" err="1">
                <a:latin typeface="Alegreya Sans" panose="00000500000000000000" pitchFamily="2" charset="0"/>
                <a:ea typeface="+mn-ea"/>
                <a:cs typeface="+mn-cs"/>
              </a:rPr>
              <a:t>Limits</a:t>
            </a:r>
            <a:endParaRPr lang="sl-SI" sz="2400" b="1" dirty="0">
              <a:latin typeface="Alegreya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ABE57-7B79-C9CE-37E9-8CCC899758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sl-SI" sz="1800" dirty="0">
                <a:latin typeface="Alegreya Sans" panose="00000500000000000000" pitchFamily="2" charset="0"/>
              </a:rPr>
              <a:t>F</a:t>
            </a:r>
            <a:r>
              <a:rPr lang="en-US" sz="1800" dirty="0">
                <a:latin typeface="Alegreya Sans" panose="00000500000000000000" pitchFamily="2" charset="0"/>
              </a:rPr>
              <a:t>or quick screening in similar clinical settings, prioritize </a:t>
            </a:r>
            <a:r>
              <a:rPr lang="en-US" sz="1800" b="1" dirty="0">
                <a:latin typeface="Alegreya Sans" panose="00000500000000000000" pitchFamily="2" charset="0"/>
              </a:rPr>
              <a:t>symptom/exercise indicators</a:t>
            </a:r>
            <a:r>
              <a:rPr lang="en-US" sz="1800" dirty="0">
                <a:latin typeface="Alegreya Sans" panose="00000500000000000000" pitchFamily="2" charset="0"/>
              </a:rPr>
              <a:t>: </a:t>
            </a:r>
            <a:r>
              <a:rPr lang="en-US" sz="1800" b="1" dirty="0">
                <a:latin typeface="Alegreya Sans" panose="00000500000000000000" pitchFamily="2" charset="0"/>
              </a:rPr>
              <a:t>cp</a:t>
            </a:r>
            <a:r>
              <a:rPr lang="en-US" sz="1800" dirty="0">
                <a:latin typeface="Alegreya Sans" panose="00000500000000000000" pitchFamily="2" charset="0"/>
              </a:rPr>
              <a:t>, </a:t>
            </a:r>
            <a:r>
              <a:rPr lang="en-US" sz="1800" b="1" dirty="0" err="1">
                <a:latin typeface="Alegreya Sans" panose="00000500000000000000" pitchFamily="2" charset="0"/>
              </a:rPr>
              <a:t>exang</a:t>
            </a:r>
            <a:r>
              <a:rPr lang="en-US" sz="1800" dirty="0">
                <a:latin typeface="Alegreya Sans" panose="00000500000000000000" pitchFamily="2" charset="0"/>
              </a:rPr>
              <a:t>, and </a:t>
            </a:r>
            <a:r>
              <a:rPr lang="en-US" sz="1800" b="1" dirty="0" err="1">
                <a:latin typeface="Alegreya Sans" panose="00000500000000000000" pitchFamily="2" charset="0"/>
              </a:rPr>
              <a:t>thalach</a:t>
            </a:r>
            <a:r>
              <a:rPr lang="en-US" sz="1800" dirty="0">
                <a:latin typeface="Alegreya Sans" panose="00000500000000000000" pitchFamily="2" charset="0"/>
              </a:rPr>
              <a:t> (largest separations).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en-US" sz="1800" dirty="0">
                <a:latin typeface="Alegreya Sans" panose="00000500000000000000" pitchFamily="2" charset="0"/>
              </a:rPr>
              <a:t>Use </a:t>
            </a:r>
            <a:r>
              <a:rPr lang="en-US" sz="1800" b="1" dirty="0">
                <a:latin typeface="Alegreya Sans" panose="00000500000000000000" pitchFamily="2" charset="0"/>
              </a:rPr>
              <a:t>age + resting BP</a:t>
            </a:r>
            <a:r>
              <a:rPr lang="en-US" sz="1800" dirty="0">
                <a:latin typeface="Alegreya Sans" panose="00000500000000000000" pitchFamily="2" charset="0"/>
              </a:rPr>
              <a:t> as supportive risk context.</a:t>
            </a:r>
            <a:endParaRPr lang="sl-SI" sz="1800" dirty="0">
              <a:latin typeface="Alegreya Sans" panose="00000500000000000000" pitchFamily="2" charset="0"/>
            </a:endParaRPr>
          </a:p>
          <a:p>
            <a:r>
              <a:rPr lang="en-US" sz="1800" dirty="0">
                <a:latin typeface="Alegreya Sans" panose="00000500000000000000" pitchFamily="2" charset="0"/>
              </a:rPr>
              <a:t>Continue monitoring </a:t>
            </a:r>
            <a:r>
              <a:rPr lang="en-US" sz="1800" b="1" dirty="0">
                <a:latin typeface="Alegreya Sans" panose="00000500000000000000" pitchFamily="2" charset="0"/>
              </a:rPr>
              <a:t>metabolic risk (</a:t>
            </a:r>
            <a:r>
              <a:rPr lang="en-US" sz="1800" b="1" dirty="0" err="1">
                <a:latin typeface="Alegreya Sans" panose="00000500000000000000" pitchFamily="2" charset="0"/>
              </a:rPr>
              <a:t>chol</a:t>
            </a:r>
            <a:r>
              <a:rPr lang="en-US" sz="1800" b="1" dirty="0">
                <a:latin typeface="Alegreya Sans" panose="00000500000000000000" pitchFamily="2" charset="0"/>
              </a:rPr>
              <a:t>, FBS)</a:t>
            </a:r>
            <a:r>
              <a:rPr lang="en-US" sz="1800" dirty="0">
                <a:latin typeface="Alegreya Sans" panose="00000500000000000000" pitchFamily="2" charset="0"/>
              </a:rPr>
              <a:t> even if they’re weaker discriminators here</a:t>
            </a:r>
            <a:r>
              <a:rPr lang="sl-SI" sz="1800" dirty="0">
                <a:latin typeface="Alegreya Sans" panose="00000500000000000000" pitchFamily="2" charset="0"/>
              </a:rPr>
              <a:t> </a:t>
            </a:r>
            <a:r>
              <a:rPr lang="en-US" sz="1800" dirty="0"/>
              <a:t>– </a:t>
            </a:r>
            <a:r>
              <a:rPr lang="sl-SI" sz="1800" dirty="0"/>
              <a:t> </a:t>
            </a:r>
            <a:r>
              <a:rPr lang="en-US" sz="1800" dirty="0">
                <a:latin typeface="Alegreya Sans" panose="00000500000000000000" pitchFamily="2" charset="0"/>
              </a:rPr>
              <a:t>they matter for prevention and overall cardiovascular risk.</a:t>
            </a:r>
            <a:endParaRPr lang="sl-SI" sz="1800" dirty="0">
              <a:latin typeface="Alegreya Sans" panose="00000500000000000000" pitchFamily="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0A23A-F04E-6B0C-6D59-06518A4A953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sl-SI" sz="1900" b="1" dirty="0">
                <a:latin typeface="Alegreya Sans" panose="00000500000000000000" pitchFamily="2" charset="0"/>
              </a:rPr>
              <a:t>N</a:t>
            </a:r>
            <a:r>
              <a:rPr lang="en-US" sz="1900" b="1" dirty="0" err="1">
                <a:latin typeface="Alegreya Sans" panose="00000500000000000000" pitchFamily="2" charset="0"/>
              </a:rPr>
              <a:t>ot</a:t>
            </a:r>
            <a:r>
              <a:rPr lang="en-US" sz="1900" b="1" dirty="0">
                <a:latin typeface="Alegreya Sans" panose="00000500000000000000" pitchFamily="2" charset="0"/>
              </a:rPr>
              <a:t> a general-population sample</a:t>
            </a:r>
            <a:r>
              <a:rPr lang="en-US" sz="1900" dirty="0">
                <a:latin typeface="Alegreya Sans" panose="00000500000000000000" pitchFamily="2" charset="0"/>
              </a:rPr>
              <a:t> (clinic evaluation cohort): rates (e.g., FBS) won’t match population baselines</a:t>
            </a:r>
            <a:r>
              <a:rPr lang="sl-SI" sz="1900" dirty="0">
                <a:latin typeface="Alegreya Sans" panose="00000500000000000000" pitchFamily="2" charset="0"/>
              </a:rPr>
              <a:t>.</a:t>
            </a:r>
          </a:p>
          <a:p>
            <a:r>
              <a:rPr lang="en-US" sz="1900" b="1" dirty="0">
                <a:latin typeface="Alegreya Sans" panose="00000500000000000000" pitchFamily="2" charset="0"/>
              </a:rPr>
              <a:t>Associations ≠ causation</a:t>
            </a:r>
            <a:r>
              <a:rPr lang="en-US" sz="1900" dirty="0">
                <a:latin typeface="Alegreya Sans" panose="00000500000000000000" pitchFamily="2" charset="0"/>
              </a:rPr>
              <a:t>; unmeasured confounders (meds, comorbidities, lifestyle) may drive patterns</a:t>
            </a:r>
            <a:r>
              <a:rPr lang="sl-SI" sz="1900" dirty="0">
                <a:latin typeface="Alegreya Sans" panose="00000500000000000000" pitchFamily="2" charset="0"/>
              </a:rPr>
              <a:t>.</a:t>
            </a:r>
          </a:p>
          <a:p>
            <a:r>
              <a:rPr lang="en-US" sz="1900" dirty="0">
                <a:latin typeface="Alegreya Sans" panose="00000500000000000000" pitchFamily="2" charset="0"/>
              </a:rPr>
              <a:t>Some subgroups are small (e.g., typical angina), and multiple comparisons can inflate false positives (Tukey helps for cp–</a:t>
            </a:r>
            <a:r>
              <a:rPr lang="en-US" sz="1900" dirty="0" err="1">
                <a:latin typeface="Alegreya Sans" panose="00000500000000000000" pitchFamily="2" charset="0"/>
              </a:rPr>
              <a:t>thalach</a:t>
            </a:r>
            <a:r>
              <a:rPr lang="en-US" sz="1900" dirty="0">
                <a:latin typeface="Alegreya Sans" panose="00000500000000000000" pitchFamily="2" charset="0"/>
              </a:rPr>
              <a:t> pairs).</a:t>
            </a:r>
            <a:endParaRPr lang="sl-SI" sz="1900" dirty="0">
              <a:latin typeface="Alegreya Sans" panose="00000500000000000000" pitchFamily="2" charset="0"/>
            </a:endParaRPr>
          </a:p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690477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1871</Words>
  <Application>Microsoft Office PowerPoint</Application>
  <PresentationFormat>Widescreen</PresentationFormat>
  <Paragraphs>136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Alegreya Sans</vt:lpstr>
      <vt:lpstr>Alegreya Sans SC</vt:lpstr>
      <vt:lpstr>Alegreya Sans SC Light</vt:lpstr>
      <vt:lpstr>Aptos</vt:lpstr>
      <vt:lpstr>Aptos Display</vt:lpstr>
      <vt:lpstr>Arial</vt:lpstr>
      <vt:lpstr>Office Theme</vt:lpstr>
      <vt:lpstr>Project Challenge: Heart Disease Analysis</vt:lpstr>
      <vt:lpstr>Introduction</vt:lpstr>
      <vt:lpstr>Benchmarks / thresholds – cholesterol vs 240 mg/dl </vt:lpstr>
      <vt:lpstr>Benchmarks / thresholds – fasting blood sugar (fbs) vs 8% population benchmark</vt:lpstr>
      <vt:lpstr>Symptom + exercise signals – kind of chest pain vs heart disease</vt:lpstr>
      <vt:lpstr>Symptom + exercise signals – exercise-induced angina vs heart disease</vt:lpstr>
      <vt:lpstr>Symptom + exercise signals – maximum exercise heart rate vs heart disease</vt:lpstr>
      <vt:lpstr> Symptom + exercise signals – maximum exercise heart rate by chest pain type</vt:lpstr>
      <vt:lpstr>Demographics/vitals – age vs heart disease</vt:lpstr>
      <vt:lpstr>Demographics/vitals – resting blood pressure vs heart disease</vt:lpstr>
      <vt:lpstr>Demographics/vitals – sex vs heart disease</vt:lpstr>
      <vt:lpstr>Demographics/vitals – cholesterol vs heart disease</vt:lpstr>
      <vt:lpstr>Key takeaways</vt:lpstr>
      <vt:lpstr>Recommendations                                                                Limits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Munda, Tina</dc:creator>
  <cp:lastModifiedBy>Munda, Tina</cp:lastModifiedBy>
  <cp:revision>15</cp:revision>
  <dcterms:created xsi:type="dcterms:W3CDTF">2026-01-04T12:58:29Z</dcterms:created>
  <dcterms:modified xsi:type="dcterms:W3CDTF">2026-01-11T19:29:23Z</dcterms:modified>
</cp:coreProperties>
</file>